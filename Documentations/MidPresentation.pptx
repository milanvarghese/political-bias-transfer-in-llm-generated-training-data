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7" r:id="rId9"/>
    <p:sldId id="263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2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B4A4D-439C-4834-BB41-8B5AF98677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F64312-15E0-453B-9EC0-EB811B5854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RQ1 &amp; RQ2: Bias transfer is real and architecture-independent.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Direction (anti-Trump) </a:t>
          </a:r>
        </a:p>
      </dgm:t>
    </dgm:pt>
    <dgm:pt modelId="{B4E434FF-6FC9-4D20-B4D5-C0C2DC6D5DA7}" type="parTrans" cxnId="{2DEBB543-1BCB-4C85-85E1-1F4EE83DDDF1}">
      <dgm:prSet/>
      <dgm:spPr/>
      <dgm:t>
        <a:bodyPr/>
        <a:lstStyle/>
        <a:p>
          <a:endParaRPr lang="en-US"/>
        </a:p>
      </dgm:t>
    </dgm:pt>
    <dgm:pt modelId="{980EBA4F-4A5E-4ACD-B2DE-4B84053AE8BC}" type="sibTrans" cxnId="{2DEBB543-1BCB-4C85-85E1-1F4EE83DDD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0ED24F-5F81-47BA-B341-27717FED10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Trump suffers disproportionately: </a:t>
          </a:r>
          <a:r>
            <a:rPr lang="en-US"/>
            <a:t>2.7× the F1 drop of Biden.</a:t>
          </a:r>
        </a:p>
      </dgm:t>
    </dgm:pt>
    <dgm:pt modelId="{75E29E0D-AECA-4CE7-A08E-74CB08C60A33}" type="parTrans" cxnId="{2BDB8076-968E-4105-A07C-F10BFB0B9D93}">
      <dgm:prSet/>
      <dgm:spPr/>
      <dgm:t>
        <a:bodyPr/>
        <a:lstStyle/>
        <a:p>
          <a:endParaRPr lang="en-US"/>
        </a:p>
      </dgm:t>
    </dgm:pt>
    <dgm:pt modelId="{EE0BFE4B-E9BB-4E88-A56E-6A925A0A6673}" type="sibTrans" cxnId="{2BDB8076-968E-4105-A07C-F10BFB0B9D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03E425-F2DC-4079-84A4-19DEE4A7A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Tweet-pretrained classifiers resist bias better.</a:t>
          </a:r>
          <a:r>
            <a:rPr lang="en-US" dirty="0"/>
            <a:t> </a:t>
          </a:r>
        </a:p>
        <a:p>
          <a:pPr>
            <a:lnSpc>
              <a:spcPct val="100000"/>
            </a:lnSpc>
          </a:pPr>
          <a:r>
            <a:rPr lang="en-US" dirty="0" err="1"/>
            <a:t>BERTweet's</a:t>
          </a:r>
          <a:r>
            <a:rPr lang="en-US" dirty="0"/>
            <a:t> lower Bias Score (+0.068) </a:t>
          </a:r>
        </a:p>
      </dgm:t>
    </dgm:pt>
    <dgm:pt modelId="{300FEEB2-D298-4954-B78D-0B5C32117F95}" type="parTrans" cxnId="{BE4BB4A9-C9EF-41F0-942E-0F57CD6A6180}">
      <dgm:prSet/>
      <dgm:spPr/>
      <dgm:t>
        <a:bodyPr/>
        <a:lstStyle/>
        <a:p>
          <a:endParaRPr lang="en-US"/>
        </a:p>
      </dgm:t>
    </dgm:pt>
    <dgm:pt modelId="{4EEEB9E4-5158-4750-9B15-6714381D39FB}" type="sibTrans" cxnId="{BE4BB4A9-C9EF-41F0-942E-0F57CD6A61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94D322-2D5E-4F20-88C7-572E3922B2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RQ3: BIAS SHIFT FIX?</a:t>
          </a:r>
        </a:p>
        <a:p>
          <a:pPr>
            <a:lnSpc>
              <a:spcPct val="100000"/>
            </a:lnSpc>
          </a:pPr>
          <a:r>
            <a:rPr lang="en-US" b="1" dirty="0"/>
            <a:t>Mixing real + synthetic effectively eliminates the bias.</a:t>
          </a:r>
          <a:endParaRPr lang="en-US" dirty="0"/>
        </a:p>
      </dgm:t>
    </dgm:pt>
    <dgm:pt modelId="{D04F125D-AFF7-40A6-9348-8CC1E5C6EAFD}" type="parTrans" cxnId="{E9480326-B7A3-4C2B-901B-47F7FF2E7591}">
      <dgm:prSet/>
      <dgm:spPr/>
      <dgm:t>
        <a:bodyPr/>
        <a:lstStyle/>
        <a:p>
          <a:endParaRPr lang="en-US"/>
        </a:p>
      </dgm:t>
    </dgm:pt>
    <dgm:pt modelId="{B7FF1CB5-74A5-4FC4-8134-17BC3CB76C03}" type="sibTrans" cxnId="{E9480326-B7A3-4C2B-901B-47F7FF2E75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D8BED2-8BC1-4692-A331-0A1BDD1D5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Robustness check:</a:t>
          </a:r>
          <a:r>
            <a:rPr lang="en-US"/>
            <a:t> bias is </a:t>
          </a:r>
          <a:r>
            <a:rPr lang="en-US" b="1"/>
            <a:t>content-driven</a:t>
          </a:r>
          <a:r>
            <a:rPr lang="en-US"/>
            <a:t>, not from test-set class imbalance.</a:t>
          </a:r>
        </a:p>
      </dgm:t>
    </dgm:pt>
    <dgm:pt modelId="{BCA490F6-96A8-4771-87E1-6DB440B3E1B1}" type="parTrans" cxnId="{211CE1F3-CF8C-48EE-95C5-F019AF60885B}">
      <dgm:prSet/>
      <dgm:spPr/>
      <dgm:t>
        <a:bodyPr/>
        <a:lstStyle/>
        <a:p>
          <a:endParaRPr lang="en-US"/>
        </a:p>
      </dgm:t>
    </dgm:pt>
    <dgm:pt modelId="{DE4B0EF2-FD95-4819-9900-41322578B357}" type="sibTrans" cxnId="{211CE1F3-CF8C-48EE-95C5-F019AF6088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FBBA32-7B78-44C4-811F-B7C43C1BB2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Next steps: </a:t>
          </a:r>
          <a:br>
            <a:rPr lang="en-US" b="1" dirty="0"/>
          </a:br>
          <a:r>
            <a:rPr lang="en-US" dirty="0"/>
            <a:t>Replicate on </a:t>
          </a:r>
          <a:r>
            <a:rPr lang="en-US" b="1" dirty="0"/>
            <a:t>Llama-3-8B-base with </a:t>
          </a:r>
          <a:r>
            <a:rPr lang="en-US" b="1" dirty="0" err="1"/>
            <a:t>LoRA</a:t>
          </a:r>
          <a:r>
            <a:rPr lang="en-US" b="1" dirty="0"/>
            <a:t> </a:t>
          </a:r>
          <a:r>
            <a:rPr lang="en-US" dirty="0"/>
            <a:t>model </a:t>
          </a:r>
          <a:r>
            <a:rPr lang="en-US" b="1" dirty="0"/>
            <a:t> + </a:t>
          </a:r>
          <a:r>
            <a:rPr lang="en-US" dirty="0"/>
            <a:t>Ablation training across all synthetic datasets + Paper Write Up</a:t>
          </a:r>
        </a:p>
      </dgm:t>
    </dgm:pt>
    <dgm:pt modelId="{7C75C727-8FC6-456A-83C0-833E37BA625D}" type="parTrans" cxnId="{45561429-54DA-40B9-BAE2-5C3C90CDA32B}">
      <dgm:prSet/>
      <dgm:spPr/>
      <dgm:t>
        <a:bodyPr/>
        <a:lstStyle/>
        <a:p>
          <a:endParaRPr lang="en-US"/>
        </a:p>
      </dgm:t>
    </dgm:pt>
    <dgm:pt modelId="{424897AD-68B1-4811-8031-BB59E0AF2BF7}" type="sibTrans" cxnId="{45561429-54DA-40B9-BAE2-5C3C90CDA32B}">
      <dgm:prSet/>
      <dgm:spPr/>
      <dgm:t>
        <a:bodyPr/>
        <a:lstStyle/>
        <a:p>
          <a:endParaRPr lang="en-US"/>
        </a:p>
      </dgm:t>
    </dgm:pt>
    <dgm:pt modelId="{4A3589B8-1E6B-4983-90F7-CF9FB85F3315}" type="pres">
      <dgm:prSet presAssocID="{978B4A4D-439C-4834-BB41-8B5AF98677E7}" presName="root" presStyleCnt="0">
        <dgm:presLayoutVars>
          <dgm:dir/>
          <dgm:resizeHandles val="exact"/>
        </dgm:presLayoutVars>
      </dgm:prSet>
      <dgm:spPr/>
    </dgm:pt>
    <dgm:pt modelId="{941D0967-0122-4829-B933-66E39B8F5A8C}" type="pres">
      <dgm:prSet presAssocID="{978B4A4D-439C-4834-BB41-8B5AF98677E7}" presName="container" presStyleCnt="0">
        <dgm:presLayoutVars>
          <dgm:dir/>
          <dgm:resizeHandles val="exact"/>
        </dgm:presLayoutVars>
      </dgm:prSet>
      <dgm:spPr/>
    </dgm:pt>
    <dgm:pt modelId="{52A7EE72-C328-4570-9F74-93A13605B9D1}" type="pres">
      <dgm:prSet presAssocID="{76F64312-15E0-453B-9EC0-EB811B5854CF}" presName="compNode" presStyleCnt="0"/>
      <dgm:spPr/>
    </dgm:pt>
    <dgm:pt modelId="{7C95EBBD-6A10-48E9-8B4A-937D8759C8DC}" type="pres">
      <dgm:prSet presAssocID="{76F64312-15E0-453B-9EC0-EB811B5854CF}" presName="iconBgRect" presStyleLbl="bgShp" presStyleIdx="0" presStyleCnt="6"/>
      <dgm:spPr/>
    </dgm:pt>
    <dgm:pt modelId="{C87DB65D-1420-4987-BC00-98318E71BB45}" type="pres">
      <dgm:prSet presAssocID="{76F64312-15E0-453B-9EC0-EB811B5854C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CAEFA89-C04E-4DE7-A044-2CD3648EFBC8}" type="pres">
      <dgm:prSet presAssocID="{76F64312-15E0-453B-9EC0-EB811B5854CF}" presName="spaceRect" presStyleCnt="0"/>
      <dgm:spPr/>
    </dgm:pt>
    <dgm:pt modelId="{9CF3A57A-B0C8-4398-B533-59F1605EEB99}" type="pres">
      <dgm:prSet presAssocID="{76F64312-15E0-453B-9EC0-EB811B5854CF}" presName="textRect" presStyleLbl="revTx" presStyleIdx="0" presStyleCnt="6">
        <dgm:presLayoutVars>
          <dgm:chMax val="1"/>
          <dgm:chPref val="1"/>
        </dgm:presLayoutVars>
      </dgm:prSet>
      <dgm:spPr/>
    </dgm:pt>
    <dgm:pt modelId="{9776DDD0-35C1-448C-9AC5-B4423F785493}" type="pres">
      <dgm:prSet presAssocID="{980EBA4F-4A5E-4ACD-B2DE-4B84053AE8BC}" presName="sibTrans" presStyleLbl="sibTrans2D1" presStyleIdx="0" presStyleCnt="0"/>
      <dgm:spPr/>
    </dgm:pt>
    <dgm:pt modelId="{F6AD3321-26EC-4332-BF4A-DF130E5D045A}" type="pres">
      <dgm:prSet presAssocID="{080ED24F-5F81-47BA-B341-27717FED10D4}" presName="compNode" presStyleCnt="0"/>
      <dgm:spPr/>
    </dgm:pt>
    <dgm:pt modelId="{F625811C-D968-40B1-BA1F-D74EAF8B72A7}" type="pres">
      <dgm:prSet presAssocID="{080ED24F-5F81-47BA-B341-27717FED10D4}" presName="iconBgRect" presStyleLbl="bgShp" presStyleIdx="1" presStyleCnt="6"/>
      <dgm:spPr/>
    </dgm:pt>
    <dgm:pt modelId="{0AD7F2C2-5266-4A3E-AE3A-A114A0524BE2}" type="pres">
      <dgm:prSet presAssocID="{080ED24F-5F81-47BA-B341-27717FED10D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E8EFD01-E8ED-4A27-A3A7-5DDD8EE408CF}" type="pres">
      <dgm:prSet presAssocID="{080ED24F-5F81-47BA-B341-27717FED10D4}" presName="spaceRect" presStyleCnt="0"/>
      <dgm:spPr/>
    </dgm:pt>
    <dgm:pt modelId="{4EE1F6D8-C5D7-480D-BBC9-271377B27CCA}" type="pres">
      <dgm:prSet presAssocID="{080ED24F-5F81-47BA-B341-27717FED10D4}" presName="textRect" presStyleLbl="revTx" presStyleIdx="1" presStyleCnt="6">
        <dgm:presLayoutVars>
          <dgm:chMax val="1"/>
          <dgm:chPref val="1"/>
        </dgm:presLayoutVars>
      </dgm:prSet>
      <dgm:spPr/>
    </dgm:pt>
    <dgm:pt modelId="{024AA4C9-2425-407D-844B-52306433A9E8}" type="pres">
      <dgm:prSet presAssocID="{EE0BFE4B-E9BB-4E88-A56E-6A925A0A6673}" presName="sibTrans" presStyleLbl="sibTrans2D1" presStyleIdx="0" presStyleCnt="0"/>
      <dgm:spPr/>
    </dgm:pt>
    <dgm:pt modelId="{EB8FD578-4294-4D5B-8ADD-BA69134C7D43}" type="pres">
      <dgm:prSet presAssocID="{7503E425-F2DC-4079-84A4-19DEE4A7A351}" presName="compNode" presStyleCnt="0"/>
      <dgm:spPr/>
    </dgm:pt>
    <dgm:pt modelId="{F6C3F349-25D0-4036-A4AA-C6AF7EF6F403}" type="pres">
      <dgm:prSet presAssocID="{7503E425-F2DC-4079-84A4-19DEE4A7A351}" presName="iconBgRect" presStyleLbl="bgShp" presStyleIdx="2" presStyleCnt="6"/>
      <dgm:spPr/>
    </dgm:pt>
    <dgm:pt modelId="{4FE21DD1-1541-48A6-BEC7-C060DB0A65B3}" type="pres">
      <dgm:prSet presAssocID="{7503E425-F2DC-4079-84A4-19DEE4A7A35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BB2D149-4D4A-487A-87CB-D8425A43C580}" type="pres">
      <dgm:prSet presAssocID="{7503E425-F2DC-4079-84A4-19DEE4A7A351}" presName="spaceRect" presStyleCnt="0"/>
      <dgm:spPr/>
    </dgm:pt>
    <dgm:pt modelId="{BB6FD5FB-9FD8-48F6-B6AE-E0FCE66C0F75}" type="pres">
      <dgm:prSet presAssocID="{7503E425-F2DC-4079-84A4-19DEE4A7A351}" presName="textRect" presStyleLbl="revTx" presStyleIdx="2" presStyleCnt="6">
        <dgm:presLayoutVars>
          <dgm:chMax val="1"/>
          <dgm:chPref val="1"/>
        </dgm:presLayoutVars>
      </dgm:prSet>
      <dgm:spPr/>
    </dgm:pt>
    <dgm:pt modelId="{09F217B8-1C1B-459F-9842-7E0032FDD98F}" type="pres">
      <dgm:prSet presAssocID="{4EEEB9E4-5158-4750-9B15-6714381D39FB}" presName="sibTrans" presStyleLbl="sibTrans2D1" presStyleIdx="0" presStyleCnt="0"/>
      <dgm:spPr/>
    </dgm:pt>
    <dgm:pt modelId="{688D632A-16F5-4BFE-9AEA-B9BCD94719F3}" type="pres">
      <dgm:prSet presAssocID="{6E94D322-2D5E-4F20-88C7-572E3922B229}" presName="compNode" presStyleCnt="0"/>
      <dgm:spPr/>
    </dgm:pt>
    <dgm:pt modelId="{16C3D0AA-80E1-4F47-B1EA-FDB55F1A85AF}" type="pres">
      <dgm:prSet presAssocID="{6E94D322-2D5E-4F20-88C7-572E3922B229}" presName="iconBgRect" presStyleLbl="bgShp" presStyleIdx="3" presStyleCnt="6"/>
      <dgm:spPr/>
    </dgm:pt>
    <dgm:pt modelId="{CD4A843E-45DF-4543-AD44-CF32A26DD492}" type="pres">
      <dgm:prSet presAssocID="{6E94D322-2D5E-4F20-88C7-572E3922B22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5477F543-51BC-4E88-9507-4D0642A89C50}" type="pres">
      <dgm:prSet presAssocID="{6E94D322-2D5E-4F20-88C7-572E3922B229}" presName="spaceRect" presStyleCnt="0"/>
      <dgm:spPr/>
    </dgm:pt>
    <dgm:pt modelId="{2CB46179-1118-47CB-BD65-0289429F9D91}" type="pres">
      <dgm:prSet presAssocID="{6E94D322-2D5E-4F20-88C7-572E3922B229}" presName="textRect" presStyleLbl="revTx" presStyleIdx="3" presStyleCnt="6">
        <dgm:presLayoutVars>
          <dgm:chMax val="1"/>
          <dgm:chPref val="1"/>
        </dgm:presLayoutVars>
      </dgm:prSet>
      <dgm:spPr/>
    </dgm:pt>
    <dgm:pt modelId="{287A47DD-EBE6-4DDC-A685-8A862B540B1E}" type="pres">
      <dgm:prSet presAssocID="{B7FF1CB5-74A5-4FC4-8134-17BC3CB76C03}" presName="sibTrans" presStyleLbl="sibTrans2D1" presStyleIdx="0" presStyleCnt="0"/>
      <dgm:spPr/>
    </dgm:pt>
    <dgm:pt modelId="{EF579A54-833D-4F8F-A51D-7E134B1D20A4}" type="pres">
      <dgm:prSet presAssocID="{9FD8BED2-8BC1-4692-A331-0A1BDD1D5B81}" presName="compNode" presStyleCnt="0"/>
      <dgm:spPr/>
    </dgm:pt>
    <dgm:pt modelId="{68C2B490-81D5-4FF7-8C63-A38CD89A5875}" type="pres">
      <dgm:prSet presAssocID="{9FD8BED2-8BC1-4692-A331-0A1BDD1D5B81}" presName="iconBgRect" presStyleLbl="bgShp" presStyleIdx="4" presStyleCnt="6"/>
      <dgm:spPr/>
    </dgm:pt>
    <dgm:pt modelId="{3673E48E-FEC2-41F0-9638-68A1788419EC}" type="pres">
      <dgm:prSet presAssocID="{9FD8BED2-8BC1-4692-A331-0A1BDD1D5B8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1A49E0F3-58FE-494B-A79A-EAA1D9378737}" type="pres">
      <dgm:prSet presAssocID="{9FD8BED2-8BC1-4692-A331-0A1BDD1D5B81}" presName="spaceRect" presStyleCnt="0"/>
      <dgm:spPr/>
    </dgm:pt>
    <dgm:pt modelId="{ADE68C33-EE90-4823-BCDC-2E132033D3CA}" type="pres">
      <dgm:prSet presAssocID="{9FD8BED2-8BC1-4692-A331-0A1BDD1D5B81}" presName="textRect" presStyleLbl="revTx" presStyleIdx="4" presStyleCnt="6">
        <dgm:presLayoutVars>
          <dgm:chMax val="1"/>
          <dgm:chPref val="1"/>
        </dgm:presLayoutVars>
      </dgm:prSet>
      <dgm:spPr/>
    </dgm:pt>
    <dgm:pt modelId="{1A489906-1ABB-468D-BE8E-635970F874C1}" type="pres">
      <dgm:prSet presAssocID="{DE4B0EF2-FD95-4819-9900-41322578B357}" presName="sibTrans" presStyleLbl="sibTrans2D1" presStyleIdx="0" presStyleCnt="0"/>
      <dgm:spPr/>
    </dgm:pt>
    <dgm:pt modelId="{D4354E25-A2DD-4B9E-A4B5-013E18A34478}" type="pres">
      <dgm:prSet presAssocID="{DAFBBA32-7B78-44C4-811F-B7C43C1BB206}" presName="compNode" presStyleCnt="0"/>
      <dgm:spPr/>
    </dgm:pt>
    <dgm:pt modelId="{8E1C160A-6712-4DDB-853E-805D367BCF83}" type="pres">
      <dgm:prSet presAssocID="{DAFBBA32-7B78-44C4-811F-B7C43C1BB206}" presName="iconBgRect" presStyleLbl="bgShp" presStyleIdx="5" presStyleCnt="6"/>
      <dgm:spPr/>
    </dgm:pt>
    <dgm:pt modelId="{842BD024-1824-4C3A-A7FA-B4C44E114BAC}" type="pres">
      <dgm:prSet presAssocID="{DAFBBA32-7B78-44C4-811F-B7C43C1BB20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11BF1CDC-3C98-4D16-B2AA-218C06D4DD1D}" type="pres">
      <dgm:prSet presAssocID="{DAFBBA32-7B78-44C4-811F-B7C43C1BB206}" presName="spaceRect" presStyleCnt="0"/>
      <dgm:spPr/>
    </dgm:pt>
    <dgm:pt modelId="{8ECC0569-1376-4F2F-A41A-286C55248C2E}" type="pres">
      <dgm:prSet presAssocID="{DAFBBA32-7B78-44C4-811F-B7C43C1BB20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ED6E40B-95E8-4A28-9209-A60197E1DBAE}" type="presOf" srcId="{EE0BFE4B-E9BB-4E88-A56E-6A925A0A6673}" destId="{024AA4C9-2425-407D-844B-52306433A9E8}" srcOrd="0" destOrd="0" presId="urn:microsoft.com/office/officeart/2018/2/layout/IconCircleList"/>
    <dgm:cxn modelId="{309A6121-1476-448B-83C3-48130049FF4B}" type="presOf" srcId="{9FD8BED2-8BC1-4692-A331-0A1BDD1D5B81}" destId="{ADE68C33-EE90-4823-BCDC-2E132033D3CA}" srcOrd="0" destOrd="0" presId="urn:microsoft.com/office/officeart/2018/2/layout/IconCircleList"/>
    <dgm:cxn modelId="{E9480326-B7A3-4C2B-901B-47F7FF2E7591}" srcId="{978B4A4D-439C-4834-BB41-8B5AF98677E7}" destId="{6E94D322-2D5E-4F20-88C7-572E3922B229}" srcOrd="3" destOrd="0" parTransId="{D04F125D-AFF7-40A6-9348-8CC1E5C6EAFD}" sibTransId="{B7FF1CB5-74A5-4FC4-8134-17BC3CB76C03}"/>
    <dgm:cxn modelId="{45561429-54DA-40B9-BAE2-5C3C90CDA32B}" srcId="{978B4A4D-439C-4834-BB41-8B5AF98677E7}" destId="{DAFBBA32-7B78-44C4-811F-B7C43C1BB206}" srcOrd="5" destOrd="0" parTransId="{7C75C727-8FC6-456A-83C0-833E37BA625D}" sibTransId="{424897AD-68B1-4811-8031-BB59E0AF2BF7}"/>
    <dgm:cxn modelId="{5C312C3E-4BB2-4416-91B6-432E726C6282}" type="presOf" srcId="{980EBA4F-4A5E-4ACD-B2DE-4B84053AE8BC}" destId="{9776DDD0-35C1-448C-9AC5-B4423F785493}" srcOrd="0" destOrd="0" presId="urn:microsoft.com/office/officeart/2018/2/layout/IconCircleList"/>
    <dgm:cxn modelId="{37E3F75D-2607-4466-8B2C-9C7E12EC0A51}" type="presOf" srcId="{4EEEB9E4-5158-4750-9B15-6714381D39FB}" destId="{09F217B8-1C1B-459F-9842-7E0032FDD98F}" srcOrd="0" destOrd="0" presId="urn:microsoft.com/office/officeart/2018/2/layout/IconCircleList"/>
    <dgm:cxn modelId="{2DEBB543-1BCB-4C85-85E1-1F4EE83DDDF1}" srcId="{978B4A4D-439C-4834-BB41-8B5AF98677E7}" destId="{76F64312-15E0-453B-9EC0-EB811B5854CF}" srcOrd="0" destOrd="0" parTransId="{B4E434FF-6FC9-4D20-B4D5-C0C2DC6D5DA7}" sibTransId="{980EBA4F-4A5E-4ACD-B2DE-4B84053AE8BC}"/>
    <dgm:cxn modelId="{56A2636A-84C3-47EC-BF8A-81152F64829F}" type="presOf" srcId="{978B4A4D-439C-4834-BB41-8B5AF98677E7}" destId="{4A3589B8-1E6B-4983-90F7-CF9FB85F3315}" srcOrd="0" destOrd="0" presId="urn:microsoft.com/office/officeart/2018/2/layout/IconCircleList"/>
    <dgm:cxn modelId="{0C0A276C-564E-4AA7-82A5-E4676D997757}" type="presOf" srcId="{DAFBBA32-7B78-44C4-811F-B7C43C1BB206}" destId="{8ECC0569-1376-4F2F-A41A-286C55248C2E}" srcOrd="0" destOrd="0" presId="urn:microsoft.com/office/officeart/2018/2/layout/IconCircleList"/>
    <dgm:cxn modelId="{2BDB8076-968E-4105-A07C-F10BFB0B9D93}" srcId="{978B4A4D-439C-4834-BB41-8B5AF98677E7}" destId="{080ED24F-5F81-47BA-B341-27717FED10D4}" srcOrd="1" destOrd="0" parTransId="{75E29E0D-AECA-4CE7-A08E-74CB08C60A33}" sibTransId="{EE0BFE4B-E9BB-4E88-A56E-6A925A0A6673}"/>
    <dgm:cxn modelId="{89B70B82-CB08-4685-8A93-8FB9AD80A755}" type="presOf" srcId="{B7FF1CB5-74A5-4FC4-8134-17BC3CB76C03}" destId="{287A47DD-EBE6-4DDC-A685-8A862B540B1E}" srcOrd="0" destOrd="0" presId="urn:microsoft.com/office/officeart/2018/2/layout/IconCircleList"/>
    <dgm:cxn modelId="{F7001A85-B00A-400C-A24C-916ADB854BE6}" type="presOf" srcId="{76F64312-15E0-453B-9EC0-EB811B5854CF}" destId="{9CF3A57A-B0C8-4398-B533-59F1605EEB99}" srcOrd="0" destOrd="0" presId="urn:microsoft.com/office/officeart/2018/2/layout/IconCircleList"/>
    <dgm:cxn modelId="{C86B159B-909C-49FB-830D-4550F893BE90}" type="presOf" srcId="{080ED24F-5F81-47BA-B341-27717FED10D4}" destId="{4EE1F6D8-C5D7-480D-BBC9-271377B27CCA}" srcOrd="0" destOrd="0" presId="urn:microsoft.com/office/officeart/2018/2/layout/IconCircleList"/>
    <dgm:cxn modelId="{BE4BB4A9-C9EF-41F0-942E-0F57CD6A6180}" srcId="{978B4A4D-439C-4834-BB41-8B5AF98677E7}" destId="{7503E425-F2DC-4079-84A4-19DEE4A7A351}" srcOrd="2" destOrd="0" parTransId="{300FEEB2-D298-4954-B78D-0B5C32117F95}" sibTransId="{4EEEB9E4-5158-4750-9B15-6714381D39FB}"/>
    <dgm:cxn modelId="{7BF3DCB5-6B88-4D2F-97B2-F9C2CD44FE70}" type="presOf" srcId="{7503E425-F2DC-4079-84A4-19DEE4A7A351}" destId="{BB6FD5FB-9FD8-48F6-B6AE-E0FCE66C0F75}" srcOrd="0" destOrd="0" presId="urn:microsoft.com/office/officeart/2018/2/layout/IconCircleList"/>
    <dgm:cxn modelId="{211CE1F3-CF8C-48EE-95C5-F019AF60885B}" srcId="{978B4A4D-439C-4834-BB41-8B5AF98677E7}" destId="{9FD8BED2-8BC1-4692-A331-0A1BDD1D5B81}" srcOrd="4" destOrd="0" parTransId="{BCA490F6-96A8-4771-87E1-6DB440B3E1B1}" sibTransId="{DE4B0EF2-FD95-4819-9900-41322578B357}"/>
    <dgm:cxn modelId="{5E31E4F3-69A4-4BE8-A1B5-00B2D8ECFDF8}" type="presOf" srcId="{6E94D322-2D5E-4F20-88C7-572E3922B229}" destId="{2CB46179-1118-47CB-BD65-0289429F9D91}" srcOrd="0" destOrd="0" presId="urn:microsoft.com/office/officeart/2018/2/layout/IconCircleList"/>
    <dgm:cxn modelId="{BBCA52F5-7C17-4F95-924F-A4FA3C3C6FE2}" type="presOf" srcId="{DE4B0EF2-FD95-4819-9900-41322578B357}" destId="{1A489906-1ABB-468D-BE8E-635970F874C1}" srcOrd="0" destOrd="0" presId="urn:microsoft.com/office/officeart/2018/2/layout/IconCircleList"/>
    <dgm:cxn modelId="{BE0C2DD9-CBCA-4B16-9F82-8A25D808487F}" type="presParOf" srcId="{4A3589B8-1E6B-4983-90F7-CF9FB85F3315}" destId="{941D0967-0122-4829-B933-66E39B8F5A8C}" srcOrd="0" destOrd="0" presId="urn:microsoft.com/office/officeart/2018/2/layout/IconCircleList"/>
    <dgm:cxn modelId="{E1825A7B-CCBE-4574-9D86-77B7060001BC}" type="presParOf" srcId="{941D0967-0122-4829-B933-66E39B8F5A8C}" destId="{52A7EE72-C328-4570-9F74-93A13605B9D1}" srcOrd="0" destOrd="0" presId="urn:microsoft.com/office/officeart/2018/2/layout/IconCircleList"/>
    <dgm:cxn modelId="{945ED6DA-5B81-4BA6-96B3-87EACFEDE637}" type="presParOf" srcId="{52A7EE72-C328-4570-9F74-93A13605B9D1}" destId="{7C95EBBD-6A10-48E9-8B4A-937D8759C8DC}" srcOrd="0" destOrd="0" presId="urn:microsoft.com/office/officeart/2018/2/layout/IconCircleList"/>
    <dgm:cxn modelId="{B9AB08BC-F4EB-47CC-BF2D-BC723DD4508A}" type="presParOf" srcId="{52A7EE72-C328-4570-9F74-93A13605B9D1}" destId="{C87DB65D-1420-4987-BC00-98318E71BB45}" srcOrd="1" destOrd="0" presId="urn:microsoft.com/office/officeart/2018/2/layout/IconCircleList"/>
    <dgm:cxn modelId="{29990889-9068-492C-AC83-17EF8845D186}" type="presParOf" srcId="{52A7EE72-C328-4570-9F74-93A13605B9D1}" destId="{3CAEFA89-C04E-4DE7-A044-2CD3648EFBC8}" srcOrd="2" destOrd="0" presId="urn:microsoft.com/office/officeart/2018/2/layout/IconCircleList"/>
    <dgm:cxn modelId="{D093268B-3FC9-4C2A-B5D7-7BA12CDA93FE}" type="presParOf" srcId="{52A7EE72-C328-4570-9F74-93A13605B9D1}" destId="{9CF3A57A-B0C8-4398-B533-59F1605EEB99}" srcOrd="3" destOrd="0" presId="urn:microsoft.com/office/officeart/2018/2/layout/IconCircleList"/>
    <dgm:cxn modelId="{62A203B8-13EA-4197-9561-F9490E8050B7}" type="presParOf" srcId="{941D0967-0122-4829-B933-66E39B8F5A8C}" destId="{9776DDD0-35C1-448C-9AC5-B4423F785493}" srcOrd="1" destOrd="0" presId="urn:microsoft.com/office/officeart/2018/2/layout/IconCircleList"/>
    <dgm:cxn modelId="{98CC85D3-6747-4141-87C9-529AB562B679}" type="presParOf" srcId="{941D0967-0122-4829-B933-66E39B8F5A8C}" destId="{F6AD3321-26EC-4332-BF4A-DF130E5D045A}" srcOrd="2" destOrd="0" presId="urn:microsoft.com/office/officeart/2018/2/layout/IconCircleList"/>
    <dgm:cxn modelId="{743A3D9A-D463-4522-B549-D6F796E74700}" type="presParOf" srcId="{F6AD3321-26EC-4332-BF4A-DF130E5D045A}" destId="{F625811C-D968-40B1-BA1F-D74EAF8B72A7}" srcOrd="0" destOrd="0" presId="urn:microsoft.com/office/officeart/2018/2/layout/IconCircleList"/>
    <dgm:cxn modelId="{8694A384-F513-4CD0-B3DF-3CF828EE3816}" type="presParOf" srcId="{F6AD3321-26EC-4332-BF4A-DF130E5D045A}" destId="{0AD7F2C2-5266-4A3E-AE3A-A114A0524BE2}" srcOrd="1" destOrd="0" presId="urn:microsoft.com/office/officeart/2018/2/layout/IconCircleList"/>
    <dgm:cxn modelId="{4ACD99EC-C3EF-447E-8BFC-C19E31815AF7}" type="presParOf" srcId="{F6AD3321-26EC-4332-BF4A-DF130E5D045A}" destId="{1E8EFD01-E8ED-4A27-A3A7-5DDD8EE408CF}" srcOrd="2" destOrd="0" presId="urn:microsoft.com/office/officeart/2018/2/layout/IconCircleList"/>
    <dgm:cxn modelId="{24996E39-0BAD-4851-97C7-0D19FA8890F8}" type="presParOf" srcId="{F6AD3321-26EC-4332-BF4A-DF130E5D045A}" destId="{4EE1F6D8-C5D7-480D-BBC9-271377B27CCA}" srcOrd="3" destOrd="0" presId="urn:microsoft.com/office/officeart/2018/2/layout/IconCircleList"/>
    <dgm:cxn modelId="{F75AC194-07F7-439E-873A-71319AD67622}" type="presParOf" srcId="{941D0967-0122-4829-B933-66E39B8F5A8C}" destId="{024AA4C9-2425-407D-844B-52306433A9E8}" srcOrd="3" destOrd="0" presId="urn:microsoft.com/office/officeart/2018/2/layout/IconCircleList"/>
    <dgm:cxn modelId="{049BE73B-8F2D-4528-9DF0-D1452EF456BD}" type="presParOf" srcId="{941D0967-0122-4829-B933-66E39B8F5A8C}" destId="{EB8FD578-4294-4D5B-8ADD-BA69134C7D43}" srcOrd="4" destOrd="0" presId="urn:microsoft.com/office/officeart/2018/2/layout/IconCircleList"/>
    <dgm:cxn modelId="{E1AD410E-7185-46E3-8A91-4AC1B1268670}" type="presParOf" srcId="{EB8FD578-4294-4D5B-8ADD-BA69134C7D43}" destId="{F6C3F349-25D0-4036-A4AA-C6AF7EF6F403}" srcOrd="0" destOrd="0" presId="urn:microsoft.com/office/officeart/2018/2/layout/IconCircleList"/>
    <dgm:cxn modelId="{666F25EF-35D1-4BAF-9A03-6F7A83C62563}" type="presParOf" srcId="{EB8FD578-4294-4D5B-8ADD-BA69134C7D43}" destId="{4FE21DD1-1541-48A6-BEC7-C060DB0A65B3}" srcOrd="1" destOrd="0" presId="urn:microsoft.com/office/officeart/2018/2/layout/IconCircleList"/>
    <dgm:cxn modelId="{E7BE687F-2C27-421B-9D60-5AAF736B37B7}" type="presParOf" srcId="{EB8FD578-4294-4D5B-8ADD-BA69134C7D43}" destId="{3BB2D149-4D4A-487A-87CB-D8425A43C580}" srcOrd="2" destOrd="0" presId="urn:microsoft.com/office/officeart/2018/2/layout/IconCircleList"/>
    <dgm:cxn modelId="{2D8D6D8A-252E-459D-AF90-2365F64F9247}" type="presParOf" srcId="{EB8FD578-4294-4D5B-8ADD-BA69134C7D43}" destId="{BB6FD5FB-9FD8-48F6-B6AE-E0FCE66C0F75}" srcOrd="3" destOrd="0" presId="urn:microsoft.com/office/officeart/2018/2/layout/IconCircleList"/>
    <dgm:cxn modelId="{C6D00868-E3C7-4638-91AA-6EA1FD4444B8}" type="presParOf" srcId="{941D0967-0122-4829-B933-66E39B8F5A8C}" destId="{09F217B8-1C1B-459F-9842-7E0032FDD98F}" srcOrd="5" destOrd="0" presId="urn:microsoft.com/office/officeart/2018/2/layout/IconCircleList"/>
    <dgm:cxn modelId="{2431DD7D-ECC2-42BC-821E-E965CDF85A57}" type="presParOf" srcId="{941D0967-0122-4829-B933-66E39B8F5A8C}" destId="{688D632A-16F5-4BFE-9AEA-B9BCD94719F3}" srcOrd="6" destOrd="0" presId="urn:microsoft.com/office/officeart/2018/2/layout/IconCircleList"/>
    <dgm:cxn modelId="{A74DFC78-7FBD-4991-9E0D-E5C06AEB6E40}" type="presParOf" srcId="{688D632A-16F5-4BFE-9AEA-B9BCD94719F3}" destId="{16C3D0AA-80E1-4F47-B1EA-FDB55F1A85AF}" srcOrd="0" destOrd="0" presId="urn:microsoft.com/office/officeart/2018/2/layout/IconCircleList"/>
    <dgm:cxn modelId="{5AB3E7D6-A3E1-4E92-A586-617F69F85881}" type="presParOf" srcId="{688D632A-16F5-4BFE-9AEA-B9BCD94719F3}" destId="{CD4A843E-45DF-4543-AD44-CF32A26DD492}" srcOrd="1" destOrd="0" presId="urn:microsoft.com/office/officeart/2018/2/layout/IconCircleList"/>
    <dgm:cxn modelId="{26EFC181-DD4F-457C-BB4F-B98E85ACC03B}" type="presParOf" srcId="{688D632A-16F5-4BFE-9AEA-B9BCD94719F3}" destId="{5477F543-51BC-4E88-9507-4D0642A89C50}" srcOrd="2" destOrd="0" presId="urn:microsoft.com/office/officeart/2018/2/layout/IconCircleList"/>
    <dgm:cxn modelId="{F3807756-959F-4910-9385-5C8C9956611E}" type="presParOf" srcId="{688D632A-16F5-4BFE-9AEA-B9BCD94719F3}" destId="{2CB46179-1118-47CB-BD65-0289429F9D91}" srcOrd="3" destOrd="0" presId="urn:microsoft.com/office/officeart/2018/2/layout/IconCircleList"/>
    <dgm:cxn modelId="{A3B687DC-D7A0-48AC-8D7F-97B85DF00F8A}" type="presParOf" srcId="{941D0967-0122-4829-B933-66E39B8F5A8C}" destId="{287A47DD-EBE6-4DDC-A685-8A862B540B1E}" srcOrd="7" destOrd="0" presId="urn:microsoft.com/office/officeart/2018/2/layout/IconCircleList"/>
    <dgm:cxn modelId="{2BBDABAF-9BBE-4320-B0B5-BA53A734BBA6}" type="presParOf" srcId="{941D0967-0122-4829-B933-66E39B8F5A8C}" destId="{EF579A54-833D-4F8F-A51D-7E134B1D20A4}" srcOrd="8" destOrd="0" presId="urn:microsoft.com/office/officeart/2018/2/layout/IconCircleList"/>
    <dgm:cxn modelId="{61B7ACDC-1FB6-4C09-8488-87F3423C5E17}" type="presParOf" srcId="{EF579A54-833D-4F8F-A51D-7E134B1D20A4}" destId="{68C2B490-81D5-4FF7-8C63-A38CD89A5875}" srcOrd="0" destOrd="0" presId="urn:microsoft.com/office/officeart/2018/2/layout/IconCircleList"/>
    <dgm:cxn modelId="{396E72CB-58AC-4E07-A3EE-CDB7BF465556}" type="presParOf" srcId="{EF579A54-833D-4F8F-A51D-7E134B1D20A4}" destId="{3673E48E-FEC2-41F0-9638-68A1788419EC}" srcOrd="1" destOrd="0" presId="urn:microsoft.com/office/officeart/2018/2/layout/IconCircleList"/>
    <dgm:cxn modelId="{AE928790-AE83-48F7-B7E3-25B196A1E44B}" type="presParOf" srcId="{EF579A54-833D-4F8F-A51D-7E134B1D20A4}" destId="{1A49E0F3-58FE-494B-A79A-EAA1D9378737}" srcOrd="2" destOrd="0" presId="urn:microsoft.com/office/officeart/2018/2/layout/IconCircleList"/>
    <dgm:cxn modelId="{92C12132-CBBF-4C9B-9A1B-4A28F6001088}" type="presParOf" srcId="{EF579A54-833D-4F8F-A51D-7E134B1D20A4}" destId="{ADE68C33-EE90-4823-BCDC-2E132033D3CA}" srcOrd="3" destOrd="0" presId="urn:microsoft.com/office/officeart/2018/2/layout/IconCircleList"/>
    <dgm:cxn modelId="{429A832A-2D55-4D1F-B695-609C5230DA58}" type="presParOf" srcId="{941D0967-0122-4829-B933-66E39B8F5A8C}" destId="{1A489906-1ABB-468D-BE8E-635970F874C1}" srcOrd="9" destOrd="0" presId="urn:microsoft.com/office/officeart/2018/2/layout/IconCircleList"/>
    <dgm:cxn modelId="{54324E70-0599-49DD-BF2A-D6A4E06830BF}" type="presParOf" srcId="{941D0967-0122-4829-B933-66E39B8F5A8C}" destId="{D4354E25-A2DD-4B9E-A4B5-013E18A34478}" srcOrd="10" destOrd="0" presId="urn:microsoft.com/office/officeart/2018/2/layout/IconCircleList"/>
    <dgm:cxn modelId="{44A3A486-D093-428A-BE1D-2EE64F652DDC}" type="presParOf" srcId="{D4354E25-A2DD-4B9E-A4B5-013E18A34478}" destId="{8E1C160A-6712-4DDB-853E-805D367BCF83}" srcOrd="0" destOrd="0" presId="urn:microsoft.com/office/officeart/2018/2/layout/IconCircleList"/>
    <dgm:cxn modelId="{F842C36B-4500-4EE5-A875-3B987D5DD0CC}" type="presParOf" srcId="{D4354E25-A2DD-4B9E-A4B5-013E18A34478}" destId="{842BD024-1824-4C3A-A7FA-B4C44E114BAC}" srcOrd="1" destOrd="0" presId="urn:microsoft.com/office/officeart/2018/2/layout/IconCircleList"/>
    <dgm:cxn modelId="{62B1F2CD-32D5-4C06-B792-665F0B6DA5AA}" type="presParOf" srcId="{D4354E25-A2DD-4B9E-A4B5-013E18A34478}" destId="{11BF1CDC-3C98-4D16-B2AA-218C06D4DD1D}" srcOrd="2" destOrd="0" presId="urn:microsoft.com/office/officeart/2018/2/layout/IconCircleList"/>
    <dgm:cxn modelId="{0DDBCC7C-58E4-47DD-8ABD-701F90B8B729}" type="presParOf" srcId="{D4354E25-A2DD-4B9E-A4B5-013E18A34478}" destId="{8ECC0569-1376-4F2F-A41A-286C55248C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5EBBD-6A10-48E9-8B4A-937D8759C8DC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DB65D-1420-4987-BC00-98318E71BB45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3A57A-B0C8-4398-B533-59F1605EEB99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RQ1 &amp; RQ2: Bias transfer is real and architecture-independent.</a:t>
          </a:r>
          <a:r>
            <a:rPr lang="en-US" sz="1100" kern="1200" dirty="0"/>
            <a:t> </a:t>
          </a:r>
          <a:br>
            <a:rPr lang="en-US" sz="1100" kern="1200" dirty="0"/>
          </a:br>
          <a:r>
            <a:rPr lang="en-US" sz="1100" kern="1200" dirty="0"/>
            <a:t>Direction (anti-Trump) </a:t>
          </a:r>
        </a:p>
      </dsp:txBody>
      <dsp:txXfrm>
        <a:off x="1312541" y="828340"/>
        <a:ext cx="2148945" cy="911674"/>
      </dsp:txXfrm>
    </dsp:sp>
    <dsp:sp modelId="{F625811C-D968-40B1-BA1F-D74EAF8B72A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7F2C2-5266-4A3E-AE3A-A114A0524BE2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F6D8-C5D7-480D-BBC9-271377B27CCA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Trump suffers disproportionately: </a:t>
          </a:r>
          <a:r>
            <a:rPr lang="en-US" sz="1100" kern="1200"/>
            <a:t>2.7× the F1 drop of Biden.</a:t>
          </a:r>
        </a:p>
      </dsp:txBody>
      <dsp:txXfrm>
        <a:off x="4942957" y="828340"/>
        <a:ext cx="2148945" cy="911674"/>
      </dsp:txXfrm>
    </dsp:sp>
    <dsp:sp modelId="{F6C3F349-25D0-4036-A4AA-C6AF7EF6F403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21DD1-1541-48A6-BEC7-C060DB0A65B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FD5FB-9FD8-48F6-B6AE-E0FCE66C0F75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Tweet-pretrained classifiers resist bias better.</a:t>
          </a:r>
          <a:r>
            <a:rPr lang="en-US" sz="1100" kern="1200" dirty="0"/>
            <a:t>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BERTweet's</a:t>
          </a:r>
          <a:r>
            <a:rPr lang="en-US" sz="1100" kern="1200" dirty="0"/>
            <a:t> lower Bias Score (+0.068) </a:t>
          </a:r>
        </a:p>
      </dsp:txBody>
      <dsp:txXfrm>
        <a:off x="8573374" y="828340"/>
        <a:ext cx="2148945" cy="911674"/>
      </dsp:txXfrm>
    </dsp:sp>
    <dsp:sp modelId="{16C3D0AA-80E1-4F47-B1EA-FDB55F1A85AF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A843E-45DF-4543-AD44-CF32A26DD492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46179-1118-47CB-BD65-0289429F9D91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RQ3: BIAS SHIFT FIX?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Mixing real + synthetic effectively eliminates the bias.</a:t>
          </a:r>
          <a:endParaRPr lang="en-US" sz="1100" kern="1200" dirty="0"/>
        </a:p>
      </dsp:txBody>
      <dsp:txXfrm>
        <a:off x="1312541" y="2452790"/>
        <a:ext cx="2148945" cy="911674"/>
      </dsp:txXfrm>
    </dsp:sp>
    <dsp:sp modelId="{68C2B490-81D5-4FF7-8C63-A38CD89A5875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3E48E-FEC2-41F0-9638-68A1788419EC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68C33-EE90-4823-BCDC-2E132033D3CA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Robustness check:</a:t>
          </a:r>
          <a:r>
            <a:rPr lang="en-US" sz="1100" kern="1200"/>
            <a:t> bias is </a:t>
          </a:r>
          <a:r>
            <a:rPr lang="en-US" sz="1100" b="1" kern="1200"/>
            <a:t>content-driven</a:t>
          </a:r>
          <a:r>
            <a:rPr lang="en-US" sz="1100" kern="1200"/>
            <a:t>, not from test-set class imbalance.</a:t>
          </a:r>
        </a:p>
      </dsp:txBody>
      <dsp:txXfrm>
        <a:off x="4942957" y="2452790"/>
        <a:ext cx="2148945" cy="911674"/>
      </dsp:txXfrm>
    </dsp:sp>
    <dsp:sp modelId="{8E1C160A-6712-4DDB-853E-805D367BCF83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BD024-1824-4C3A-A7FA-B4C44E114BAC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C0569-1376-4F2F-A41A-286C55248C2E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Next steps: </a:t>
          </a:r>
          <a:br>
            <a:rPr lang="en-US" sz="1100" b="1" kern="1200" dirty="0"/>
          </a:br>
          <a:r>
            <a:rPr lang="en-US" sz="1100" kern="1200" dirty="0"/>
            <a:t>Replicate on </a:t>
          </a:r>
          <a:r>
            <a:rPr lang="en-US" sz="1100" b="1" kern="1200" dirty="0"/>
            <a:t>Llama-3-8B-base with </a:t>
          </a:r>
          <a:r>
            <a:rPr lang="en-US" sz="1100" b="1" kern="1200" dirty="0" err="1"/>
            <a:t>LoRA</a:t>
          </a:r>
          <a:r>
            <a:rPr lang="en-US" sz="1100" b="1" kern="1200" dirty="0"/>
            <a:t> </a:t>
          </a:r>
          <a:r>
            <a:rPr lang="en-US" sz="1100" kern="1200" dirty="0"/>
            <a:t>model </a:t>
          </a:r>
          <a:r>
            <a:rPr lang="en-US" sz="1100" b="1" kern="1200" dirty="0"/>
            <a:t> + </a:t>
          </a:r>
          <a:r>
            <a:rPr lang="en-US" sz="1100" kern="1200" dirty="0"/>
            <a:t>Ablation training across all synthetic datasets + Paper Write Up</a:t>
          </a:r>
        </a:p>
      </dsp:txBody>
      <dsp:txXfrm>
        <a:off x="8573374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EA9-B061-B85E-4E8A-6749AB1F7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D879B-9F65-91D7-BEA6-4EBCA9DDB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035C-839A-7FEE-8E90-0E265061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1E63-F7C3-A606-1321-F0459C0E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42BA-3061-4A0C-45E3-753F7D25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5E87-EBE3-3F00-C1EC-52C8047E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35FD-94BB-B012-9805-0B7F9952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C8D5-8B6A-4AA8-8942-776C2BE5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B1B1-C4DD-7F97-96C0-F6077F8C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472E-070A-AB95-3D4B-9FE150C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A5B0-0850-B0A4-F375-86C5188D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BCCC-AE31-EE97-41FF-A99139280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2068-6B66-F701-8724-A392C08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6D70-518E-8E3D-BC3D-3941DE91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B41B-E35B-9DE3-27DE-78CAEFD0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9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8658-D120-5EBC-EB4E-9484101C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709-C6FE-F11E-378C-D0CFC1348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BACF3-DC41-9302-ECFF-217F93A6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05EF4-D62C-E543-C335-47980798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2AFE-46BF-D419-E2EE-4623D31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23373-16FF-4915-50B6-8F8D20E3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1C44-19B7-7B58-B10A-E5D8B644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29C96-F8DA-F266-18C3-CC106BF2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4BF0-F715-F90E-5C07-355E1545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2BA09-137C-53D3-C865-CDAA9A939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7C8AF-408F-56E5-C4DB-3DC0EF34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69AA3-33FB-CB77-968D-188CD664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57509-CCFB-BE1F-B5B1-C9157368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BB91F-4E96-B177-7294-415F7651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628A-5FAE-52DE-5387-B1D92546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30E20-A707-111A-3538-3821F780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7E0F1-4346-68F7-FC39-CB1968D5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E1FB5-E464-4C76-21F1-9F1C1C12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7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354FD-4C87-B359-C91D-0A2351D4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0006E-6A47-C876-A0D7-F719B3A4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6F3A-DA09-35C1-5556-8B1A5573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C0BC-D311-EB27-A7F0-0F993F43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5A68-8650-CB29-A39E-FD4FD55BD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2F254-B3C4-7ADA-9844-B5BE65380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0C011-3282-C776-6BA2-DFF7D9DD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8A21D-CE1B-90A9-6C66-6DB2F5FA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ED964-B99B-6165-B819-5F32FB78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1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C777-0D49-892C-2310-2EADDB07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FF90C-12D0-ED97-4A67-D7B022DDD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D86A-FAD2-4A14-7636-8EB4F3C1F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FA5ED-F867-1C8B-8287-6E16395B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3A180-709A-CEAB-FBA0-802402EA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D1B4-2EA9-75B1-05CF-5A938414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082E-F1C1-D5E4-E4ED-B6855DFC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3E6D7-A94F-C8D6-C791-0280C29C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59A0A-A131-FCF5-BBEC-E85E8E3B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3119F-CE23-22EB-CC27-0F490D41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E7D5-E91E-5B0C-5993-0798F5C8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61460-7FF3-03D9-8D4D-97B30F90F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9FB5C-7D93-D9E1-64AD-67AFA5903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8F716-E546-7AD0-4F3F-DBE1DDFC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516C-39C6-D374-9546-5D817C13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C7154-C2A4-34B6-624E-8672912D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2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A38DB-CC97-EEF2-A64E-8ABE98A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E917A-42D7-DE23-81D4-30F929615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839E-FDED-20AC-5B90-B5064FEBF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9D39-398A-C604-3369-6BBF2792C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DE4D-F65D-37B8-DE14-01C45AA2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6487A-544F-624E-520E-E922F4781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Political Bias Transfer in LLM-Generated Training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3DE1E-7567-EB1C-A50C-27CC98D10568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Milan Varghese (mv644@drexel.edu) · DSCI 690 · Spring 2026</a:t>
            </a:r>
          </a:p>
        </p:txBody>
      </p:sp>
    </p:spTree>
    <p:extLst>
      <p:ext uri="{BB962C8B-B14F-4D97-AF65-F5344CB8AC3E}">
        <p14:creationId xmlns:p14="http://schemas.microsoft.com/office/powerpoint/2010/main" val="140952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BB393-4B16-2846-292C-F1641A5A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Questions</a:t>
            </a:r>
            <a:endParaRPr lang="en-US" sz="4000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5930-FB04-9D8C-CC28-AD60A811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197" y="266061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RQ1: </a:t>
            </a:r>
            <a:r>
              <a:rPr lang="en-US" sz="2000" dirty="0"/>
              <a:t>Does training on LLM-synthetic tweets </a:t>
            </a:r>
            <a:r>
              <a:rPr lang="en-US" sz="2000" b="1" dirty="0"/>
              <a:t>shift classifier predictions </a:t>
            </a:r>
            <a:r>
              <a:rPr lang="en-US" sz="2000" dirty="0"/>
              <a:t>on real tweets?</a:t>
            </a:r>
          </a:p>
          <a:p>
            <a:r>
              <a:rPr lang="en-US" sz="2000" b="1" dirty="0"/>
              <a:t>RQ2: </a:t>
            </a:r>
            <a:r>
              <a:rPr lang="en-US" sz="2000" dirty="0"/>
              <a:t>Does the shift hold across </a:t>
            </a:r>
            <a:r>
              <a:rPr lang="en-US" sz="2000" b="1" dirty="0"/>
              <a:t>classifier architectures</a:t>
            </a:r>
            <a:r>
              <a:rPr lang="en-US" sz="2000" dirty="0"/>
              <a:t>?</a:t>
            </a:r>
          </a:p>
          <a:p>
            <a:r>
              <a:rPr lang="en-US" sz="2000" b="1" dirty="0"/>
              <a:t>RQ3: </a:t>
            </a:r>
            <a:r>
              <a:rPr lang="en-US" sz="2000" dirty="0"/>
              <a:t>How to </a:t>
            </a:r>
            <a:r>
              <a:rPr lang="en-US" sz="2000" b="1" dirty="0"/>
              <a:t>fix this Bias </a:t>
            </a:r>
            <a:r>
              <a:rPr lang="en-US" sz="2000" dirty="0"/>
              <a:t>Shift?</a:t>
            </a:r>
          </a:p>
          <a:p>
            <a:pPr marL="0"/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13412-1D13-E8CB-1E2A-6C1D390F18DD}"/>
              </a:ext>
            </a:extLst>
          </p:cNvPr>
          <p:cNvSpPr txBox="1"/>
          <p:nvPr/>
        </p:nvSpPr>
        <p:spPr>
          <a:xfrm>
            <a:off x="1452656" y="248799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Why this matters?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increasingly used for synthetic training </a:t>
            </a:r>
            <a:r>
              <a:rPr lang="en-US" dirty="0"/>
              <a:t>data when labels are scarce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Wagner et al. (ICLR 2025) demonstrated synthetic data improves stance detection on X-Stance (German policy). They </a:t>
            </a:r>
            <a:r>
              <a:rPr lang="en-US" b="1" dirty="0"/>
              <a:t>flagged bias propagation as a concern but did not measure it.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work </a:t>
            </a:r>
            <a:r>
              <a:rPr lang="en-US" b="1" dirty="0"/>
              <a:t>tests propagation</a:t>
            </a:r>
            <a:r>
              <a:rPr lang="en-US" dirty="0"/>
              <a:t>: generator → synthetic data → classifier predictions</a:t>
            </a:r>
          </a:p>
        </p:txBody>
      </p:sp>
    </p:spTree>
    <p:extLst>
      <p:ext uri="{BB962C8B-B14F-4D97-AF65-F5344CB8AC3E}">
        <p14:creationId xmlns:p14="http://schemas.microsoft.com/office/powerpoint/2010/main" val="345585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3F1901-7D10-2ABD-81F7-D7D84430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8306" r="5581" b="9180"/>
          <a:stretch>
            <a:fillRect/>
          </a:stretch>
        </p:blipFill>
        <p:spPr>
          <a:xfrm>
            <a:off x="802152" y="0"/>
            <a:ext cx="10645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8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16F1-4FF6-5AD8-3FC1-6F215C70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4322"/>
          </a:xfrm>
        </p:spPr>
        <p:txBody>
          <a:bodyPr/>
          <a:lstStyle/>
          <a:p>
            <a:pPr algn="ctr"/>
            <a:r>
              <a:rPr lang="it-IT" b="1" u="sng" dirty="0"/>
              <a:t>Real data: P-Stance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98AC-7F17-3B29-124A-801EA4A9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3351" cy="2026708"/>
          </a:xfrm>
        </p:spPr>
        <p:txBody>
          <a:bodyPr>
            <a:normAutofit fontScale="77500" lnSpcReduction="20000"/>
          </a:bodyPr>
          <a:lstStyle/>
          <a:p>
            <a:r>
              <a:rPr lang="en-US" sz="2000" b="1" dirty="0"/>
              <a:t>21,574</a:t>
            </a:r>
            <a:r>
              <a:rPr lang="en-US" sz="2000" dirty="0"/>
              <a:t> real tweets</a:t>
            </a:r>
          </a:p>
          <a:p>
            <a:r>
              <a:rPr lang="en-US" sz="2000" b="1" dirty="0"/>
              <a:t>3 targets: </a:t>
            </a:r>
            <a:r>
              <a:rPr lang="en-US" sz="2000" dirty="0"/>
              <a:t>Trump / Biden / Sanders</a:t>
            </a:r>
          </a:p>
          <a:p>
            <a:r>
              <a:rPr lang="en-US" sz="2000" b="1" dirty="0"/>
              <a:t>Binary stance: </a:t>
            </a:r>
            <a:r>
              <a:rPr lang="en-US" sz="2000" dirty="0"/>
              <a:t>Favor / Against</a:t>
            </a:r>
          </a:p>
          <a:p>
            <a:r>
              <a:rPr lang="en-US" sz="2000" dirty="0"/>
              <a:t>80/10/10: train/</a:t>
            </a:r>
            <a:r>
              <a:rPr lang="en-US" sz="2000" dirty="0" err="1"/>
              <a:t>val</a:t>
            </a:r>
            <a:r>
              <a:rPr lang="en-US" sz="2000" dirty="0"/>
              <a:t>/test stratified per target</a:t>
            </a:r>
          </a:p>
          <a:p>
            <a:r>
              <a:rPr lang="en-US" sz="2100" b="1" dirty="0" err="1"/>
              <a:t>Krippendorff</a:t>
            </a:r>
            <a:r>
              <a:rPr lang="en-US" sz="2100" b="1" dirty="0"/>
              <a:t> alpha of 0.81 </a:t>
            </a:r>
            <a:r>
              <a:rPr lang="en-US" sz="2100" dirty="0"/>
              <a:t>(3 random Annotator Agreement)</a:t>
            </a:r>
          </a:p>
          <a:p>
            <a:r>
              <a:rPr lang="en-US" sz="2100" b="1" dirty="0"/>
              <a:t>Mild Imbalance </a:t>
            </a:r>
            <a:r>
              <a:rPr lang="en-US" sz="2100" dirty="0"/>
              <a:t>in dataset</a:t>
            </a:r>
          </a:p>
          <a:p>
            <a:endParaRPr lang="en-US" sz="2100" dirty="0"/>
          </a:p>
          <a:p>
            <a:endParaRPr lang="el-GR" sz="2100" dirty="0"/>
          </a:p>
          <a:p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7720A-1D84-7F3B-7E63-AAC1709DA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86292"/>
              </p:ext>
            </p:extLst>
          </p:nvPr>
        </p:nvGraphicFramePr>
        <p:xfrm>
          <a:off x="900633" y="4490403"/>
          <a:ext cx="570336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673">
                  <a:extLst>
                    <a:ext uri="{9D8B030D-6E8A-4147-A177-3AD203B41FA5}">
                      <a16:colId xmlns:a16="http://schemas.microsoft.com/office/drawing/2014/main" val="1663901672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963057253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3410218677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13221075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25755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Train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Val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Test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%FAVOR (train)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9617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6,362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46%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800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5,806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4071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Bernie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5,056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796960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F07D00D-A9D4-44A2-2E06-D818402B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" t="1965" b="57157"/>
          <a:stretch>
            <a:fillRect/>
          </a:stretch>
        </p:blipFill>
        <p:spPr>
          <a:xfrm>
            <a:off x="6849533" y="1593019"/>
            <a:ext cx="4939042" cy="183598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7773A-9222-2575-0CFF-1BCFE0203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82778"/>
              </p:ext>
            </p:extLst>
          </p:nvPr>
        </p:nvGraphicFramePr>
        <p:xfrm>
          <a:off x="7267115" y="4592003"/>
          <a:ext cx="434087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54">
                  <a:extLst>
                    <a:ext uri="{9D8B030D-6E8A-4147-A177-3AD203B41FA5}">
                      <a16:colId xmlns:a16="http://schemas.microsoft.com/office/drawing/2014/main" val="173453595"/>
                    </a:ext>
                  </a:extLst>
                </a:gridCol>
                <a:gridCol w="854487">
                  <a:extLst>
                    <a:ext uri="{9D8B030D-6E8A-4147-A177-3AD203B41FA5}">
                      <a16:colId xmlns:a16="http://schemas.microsoft.com/office/drawing/2014/main" val="3267136316"/>
                    </a:ext>
                  </a:extLst>
                </a:gridCol>
                <a:gridCol w="893460">
                  <a:extLst>
                    <a:ext uri="{9D8B030D-6E8A-4147-A177-3AD203B41FA5}">
                      <a16:colId xmlns:a16="http://schemas.microsoft.com/office/drawing/2014/main" val="134053140"/>
                    </a:ext>
                  </a:extLst>
                </a:gridCol>
                <a:gridCol w="851578">
                  <a:extLst>
                    <a:ext uri="{9D8B030D-6E8A-4147-A177-3AD203B41FA5}">
                      <a16:colId xmlns:a16="http://schemas.microsoft.com/office/drawing/2014/main" val="124407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Train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Test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39675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Bernie Sanders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56.5%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55.2%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54.0%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0325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Donald 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46.2%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45.9%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45.3%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82617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Joe 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44.0%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44.0%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45.2%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46706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17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0F27-256E-0F36-BC74-440DA089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</a:t>
            </a:r>
            <a:br>
              <a:rPr lang="en-US" dirty="0"/>
            </a:br>
            <a:r>
              <a:rPr lang="en-US" dirty="0"/>
              <a:t>7 generators × 7,200 tweets each = </a:t>
            </a:r>
            <a:r>
              <a:rPr lang="en-US" b="1" dirty="0"/>
              <a:t>50,400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3F6D-3038-F479-F7B6-7F45632C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8400"/>
            <a:ext cx="10515600" cy="14360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Generation method:</a:t>
            </a:r>
            <a:endParaRPr lang="en-US" sz="1800" dirty="0"/>
          </a:p>
          <a:p>
            <a:r>
              <a:rPr lang="en-US" sz="1800" b="1" dirty="0"/>
              <a:t>Neutral, label-only prompts:</a:t>
            </a:r>
            <a:r>
              <a:rPr lang="en-US" sz="1800" dirty="0"/>
              <a:t> no political framing</a:t>
            </a:r>
          </a:p>
          <a:p>
            <a:r>
              <a:rPr lang="en-US" sz="1800" b="1" dirty="0"/>
              <a:t>4×6×4 prompt grid</a:t>
            </a:r>
            <a:r>
              <a:rPr lang="en-US" sz="1800" dirty="0"/>
              <a:t> = 96 unique prompts per (target, stance)</a:t>
            </a:r>
          </a:p>
          <a:p>
            <a:r>
              <a:rPr lang="en-US" sz="1800" dirty="0"/>
              <a:t>Diversity from surface scaffolding (templates × topics × formats), not content steering</a:t>
            </a:r>
          </a:p>
          <a:p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28B2CF-C1EB-0333-F7BA-1634E275D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12982"/>
              </p:ext>
            </p:extLst>
          </p:nvPr>
        </p:nvGraphicFramePr>
        <p:xfrm>
          <a:off x="2032000" y="1690688"/>
          <a:ext cx="8127999" cy="3158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21">
                  <a:extLst>
                    <a:ext uri="{9D8B030D-6E8A-4147-A177-3AD203B41FA5}">
                      <a16:colId xmlns:a16="http://schemas.microsoft.com/office/drawing/2014/main" val="1473464767"/>
                    </a:ext>
                  </a:extLst>
                </a:gridCol>
                <a:gridCol w="2603597">
                  <a:extLst>
                    <a:ext uri="{9D8B030D-6E8A-4147-A177-3AD203B41FA5}">
                      <a16:colId xmlns:a16="http://schemas.microsoft.com/office/drawing/2014/main" val="3235560313"/>
                    </a:ext>
                  </a:extLst>
                </a:gridCol>
                <a:gridCol w="3835981">
                  <a:extLst>
                    <a:ext uri="{9D8B030D-6E8A-4147-A177-3AD203B41FA5}">
                      <a16:colId xmlns:a16="http://schemas.microsoft.com/office/drawing/2014/main" val="2186141750"/>
                    </a:ext>
                  </a:extLst>
                </a:gridCol>
              </a:tblGrid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Provider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Model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Alignment regime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4827326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Heavy RLHF (practitioner default)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03170082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Heavy RLHF (newer generation)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84740279"/>
                  </a:ext>
                </a:extLst>
              </a:tr>
              <a:tr h="436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 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Mistral-7B-v0.3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Lighter alignment (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Wagner et al. 2025 réplications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08316562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Google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Heavy RLHF (different family)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8199692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Alibaba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Different RLHF philosophy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9399893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Open RLHF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9909413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Open RLHF (size scaling)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19325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6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74C1DD-E937-0C75-8C93-7FB1C84B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37063"/>
              </p:ext>
            </p:extLst>
          </p:nvPr>
        </p:nvGraphicFramePr>
        <p:xfrm>
          <a:off x="987142" y="977220"/>
          <a:ext cx="10217716" cy="5466363"/>
        </p:xfrm>
        <a:graphic>
          <a:graphicData uri="http://schemas.openxmlformats.org/drawingml/2006/table">
            <a:tbl>
              <a:tblPr/>
              <a:tblGrid>
                <a:gridCol w="4007597">
                  <a:extLst>
                    <a:ext uri="{9D8B030D-6E8A-4147-A177-3AD203B41FA5}">
                      <a16:colId xmlns:a16="http://schemas.microsoft.com/office/drawing/2014/main" val="2416353895"/>
                    </a:ext>
                  </a:extLst>
                </a:gridCol>
                <a:gridCol w="1192343">
                  <a:extLst>
                    <a:ext uri="{9D8B030D-6E8A-4147-A177-3AD203B41FA5}">
                      <a16:colId xmlns:a16="http://schemas.microsoft.com/office/drawing/2014/main" val="7424761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768523780"/>
                    </a:ext>
                  </a:extLst>
                </a:gridCol>
                <a:gridCol w="1838196">
                  <a:extLst>
                    <a:ext uri="{9D8B030D-6E8A-4147-A177-3AD203B41FA5}">
                      <a16:colId xmlns:a16="http://schemas.microsoft.com/office/drawing/2014/main" val="27479536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1923622412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933265955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3448387071"/>
                    </a:ext>
                  </a:extLst>
                </a:gridCol>
              </a:tblGrid>
              <a:tr h="2289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Tweet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prompt_idx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refused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36210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I've been impressed by Trump's bold leadership and strong stance on the economy. His policies created jobs and boosted our pride as a nation. We need that kind of energy back in office! #MAGA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72896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anyone support a leader who prioritizes tax cuts for the rich while neglecting healthcare and education for our children? Is this really the future we want? #NotMyPresident #ChooseWisely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52017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Isn’t it time we rally behind a leader like Biden who actually cares about unity and progress? Can we really afford to go back to divisive politics? #Biden2024 #PrimaryRace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200779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505125"/>
                  </a:ext>
                </a:extLst>
              </a:tr>
              <a:tr h="8414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we trust Joe Biden to lead when he keeps dodging questions about the economy?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€™t it time for a president who actually addresses the issues? #BidenFailure #Accountability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873131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Isn't it time we prioritize universal healthcare for all? Bernie Sanders has the vision to make it a reality. Why should anyone in this country go without basic medical care? #FeelTheBern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400576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2946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€™s campaign trail is just a rerun of old promises; he needs to come up with fresh ideas instead of recycling the same slogans. #NotImpressed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500941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05078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1E4F4F6-DFA3-6EC4-5B0E-82719516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4548" cy="360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Sample</a:t>
            </a:r>
          </a:p>
        </p:txBody>
      </p:sp>
    </p:spTree>
    <p:extLst>
      <p:ext uri="{BB962C8B-B14F-4D97-AF65-F5344CB8AC3E}">
        <p14:creationId xmlns:p14="http://schemas.microsoft.com/office/powerpoint/2010/main" val="8123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B9C1-5026-5742-04F5-9E90D4A8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64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Audit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A206-2B38-4273-B780-E50B78F7D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942" y="5484463"/>
            <a:ext cx="10515600" cy="1008411"/>
          </a:xfrm>
        </p:spPr>
        <p:txBody>
          <a:bodyPr>
            <a:normAutofit/>
          </a:bodyPr>
          <a:lstStyle/>
          <a:p>
            <a:r>
              <a:rPr lang="en-US" sz="2000" b="1" dirty="0"/>
              <a:t>Open-weight models are more diverse than closed APIs.</a:t>
            </a:r>
            <a:endParaRPr lang="en-US" sz="2000" dirty="0"/>
          </a:p>
          <a:p>
            <a:r>
              <a:rPr lang="en-US" sz="2000" b="1" dirty="0"/>
              <a:t>GPT-5.4-mini is more out-of-distribution than GPT-4o-mini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7A052E-8A0A-5927-77F9-E2EBBB0B6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464365"/>
              </p:ext>
            </p:extLst>
          </p:nvPr>
        </p:nvGraphicFramePr>
        <p:xfrm>
          <a:off x="1836167" y="1001401"/>
          <a:ext cx="88403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66">
                  <a:extLst>
                    <a:ext uri="{9D8B030D-6E8A-4147-A177-3AD203B41FA5}">
                      <a16:colId xmlns:a16="http://schemas.microsoft.com/office/drawing/2014/main" val="266213562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3626016139"/>
                    </a:ext>
                  </a:extLst>
                </a:gridCol>
                <a:gridCol w="1151466">
                  <a:extLst>
                    <a:ext uri="{9D8B030D-6E8A-4147-A177-3AD203B41FA5}">
                      <a16:colId xmlns:a16="http://schemas.microsoft.com/office/drawing/2014/main" val="345121784"/>
                    </a:ext>
                  </a:extLst>
                </a:gridCol>
                <a:gridCol w="1689234">
                  <a:extLst>
                    <a:ext uri="{9D8B030D-6E8A-4147-A177-3AD203B41FA5}">
                      <a16:colId xmlns:a16="http://schemas.microsoft.com/office/drawing/2014/main" val="333155978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5997099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575224522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193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Generator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char_len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n_hashtags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distinct_2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(Higher = Vocab Diversity)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Self-BLEU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= more diverse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mean_cos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= closer to real distribution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FAVOR↑ </a:t>
                      </a:r>
                      <a:r>
                        <a:rPr lang="en-US" sz="1600" dirty="0" err="1">
                          <a:effectLst/>
                        </a:rPr>
                        <a:t>asym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writes more </a:t>
                      </a: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templated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1822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Real (ref)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170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1.9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5055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31196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396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mistral-7b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144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1.53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8290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91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+50%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7167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105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0.90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+3%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95034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0.41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+20%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6778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+22%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11293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87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43EB-0F89-FED3-2C20-8E553380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Training &amp; 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54C6-772F-A51F-1118-CE99E618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090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Conditions:</a:t>
            </a:r>
          </a:p>
          <a:p>
            <a:r>
              <a:rPr lang="en-US" dirty="0"/>
              <a:t>Synthetic</a:t>
            </a:r>
          </a:p>
          <a:p>
            <a:r>
              <a:rPr lang="en-US" dirty="0"/>
              <a:t>Real Dataset</a:t>
            </a:r>
          </a:p>
          <a:p>
            <a:r>
              <a:rPr lang="en-US" dirty="0"/>
              <a:t>Mixed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Evaluation:</a:t>
            </a:r>
          </a:p>
          <a:p>
            <a:r>
              <a:rPr lang="en-US" dirty="0"/>
              <a:t>Micro F1 Score Disagreements between synthetic and Real Classifier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ED5060-18AA-11FE-7C9E-5A97D3C59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23207"/>
              </p:ext>
            </p:extLst>
          </p:nvPr>
        </p:nvGraphicFramePr>
        <p:xfrm>
          <a:off x="6213306" y="4590059"/>
          <a:ext cx="56320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501">
                  <a:extLst>
                    <a:ext uri="{9D8B030D-6E8A-4147-A177-3AD203B41FA5}">
                      <a16:colId xmlns:a16="http://schemas.microsoft.com/office/drawing/2014/main" val="695202375"/>
                    </a:ext>
                  </a:extLst>
                </a:gridCol>
                <a:gridCol w="835146">
                  <a:extLst>
                    <a:ext uri="{9D8B030D-6E8A-4147-A177-3AD203B41FA5}">
                      <a16:colId xmlns:a16="http://schemas.microsoft.com/office/drawing/2014/main" val="3373069201"/>
                    </a:ext>
                  </a:extLst>
                </a:gridCol>
                <a:gridCol w="1584495">
                  <a:extLst>
                    <a:ext uri="{9D8B030D-6E8A-4147-A177-3AD203B41FA5}">
                      <a16:colId xmlns:a16="http://schemas.microsoft.com/office/drawing/2014/main" val="1778788223"/>
                    </a:ext>
                  </a:extLst>
                </a:gridCol>
                <a:gridCol w="1451871">
                  <a:extLst>
                    <a:ext uri="{9D8B030D-6E8A-4147-A177-3AD203B41FA5}">
                      <a16:colId xmlns:a16="http://schemas.microsoft.com/office/drawing/2014/main" val="1449864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Condition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Weight decay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Max epochs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1216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2e-5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0.01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3375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Synth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1e-5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0.10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2364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Mixed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2e-5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0.05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711098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19F6D7-1B4F-7F9E-AC74-E0F7DB046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163442"/>
              </p:ext>
            </p:extLst>
          </p:nvPr>
        </p:nvGraphicFramePr>
        <p:xfrm>
          <a:off x="5159108" y="1975942"/>
          <a:ext cx="6686211" cy="246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548078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7750962"/>
                    </a:ext>
                  </a:extLst>
                </a:gridCol>
                <a:gridCol w="981875">
                  <a:extLst>
                    <a:ext uri="{9D8B030D-6E8A-4147-A177-3AD203B41FA5}">
                      <a16:colId xmlns:a16="http://schemas.microsoft.com/office/drawing/2014/main" val="1494428030"/>
                    </a:ext>
                  </a:extLst>
                </a:gridCol>
                <a:gridCol w="1640336">
                  <a:extLst>
                    <a:ext uri="{9D8B030D-6E8A-4147-A177-3AD203B41FA5}">
                      <a16:colId xmlns:a16="http://schemas.microsoft.com/office/drawing/2014/main" val="308550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Hub ID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Params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FT method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10231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RoBERTa</a:t>
                      </a:r>
                      <a:r>
                        <a:rPr lang="en-US" dirty="0">
                          <a:effectLst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FacebookAI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roberta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125M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28996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DeBERTa-v3-base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/deberta-v3-base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184M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848310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BERTweet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vinai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bertweet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-base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134M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Full fine-tuning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2578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Llama-3-8B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meta-llama/Meta-Llama-3-8B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(r=16)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77391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82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2045-AD80-ABF4-814F-89F3569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F3DD-0093-B78D-B834-178A3D85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4313766"/>
            <a:ext cx="2895600" cy="1889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u="sng" dirty="0"/>
              <a:t>Quick Summary</a:t>
            </a:r>
          </a:p>
          <a:p>
            <a:r>
              <a:rPr lang="en-US" sz="1400" dirty="0"/>
              <a:t>Bias Scores </a:t>
            </a:r>
            <a:r>
              <a:rPr lang="en-US" sz="1400" b="1" dirty="0"/>
              <a:t>+ve</a:t>
            </a:r>
          </a:p>
          <a:p>
            <a:r>
              <a:rPr lang="en-US" sz="1400" dirty="0"/>
              <a:t>Trump's drop is 2.7× Biden's; Bernie's is 1.7× Biden’s</a:t>
            </a:r>
          </a:p>
          <a:p>
            <a:r>
              <a:rPr lang="en-US" sz="1400" dirty="0"/>
              <a:t>Mixed Dataset </a:t>
            </a:r>
            <a:r>
              <a:rPr lang="en-US" sz="1400" b="1" dirty="0"/>
              <a:t>eliminates Bias</a:t>
            </a:r>
          </a:p>
          <a:p>
            <a:r>
              <a:rPr lang="en-US" sz="1400" dirty="0"/>
              <a:t>Tweet-pretrained </a:t>
            </a:r>
            <a:r>
              <a:rPr lang="en-US" sz="1400" dirty="0" err="1"/>
              <a:t>BERTweet</a:t>
            </a:r>
            <a:r>
              <a:rPr lang="en-US" sz="1400" dirty="0"/>
              <a:t> shows </a:t>
            </a:r>
            <a:r>
              <a:rPr lang="en-US" sz="1400" b="1" dirty="0"/>
              <a:t>lowest bias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AD2909-8FAA-1F3E-9FE0-1BA61CBB7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4016856"/>
              </p:ext>
            </p:extLst>
          </p:nvPr>
        </p:nvGraphicFramePr>
        <p:xfrm>
          <a:off x="596899" y="1293353"/>
          <a:ext cx="10998201" cy="2199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634">
                  <a:extLst>
                    <a:ext uri="{9D8B030D-6E8A-4147-A177-3AD203B41FA5}">
                      <a16:colId xmlns:a16="http://schemas.microsoft.com/office/drawing/2014/main" val="11151789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79792074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077051584"/>
                    </a:ext>
                  </a:extLst>
                </a:gridCol>
                <a:gridCol w="1049867">
                  <a:extLst>
                    <a:ext uri="{9D8B030D-6E8A-4147-A177-3AD203B41FA5}">
                      <a16:colId xmlns:a16="http://schemas.microsoft.com/office/drawing/2014/main" val="2311581647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30810043"/>
                    </a:ext>
                  </a:extLst>
                </a:gridCol>
                <a:gridCol w="2040467">
                  <a:extLst>
                    <a:ext uri="{9D8B030D-6E8A-4147-A177-3AD203B41FA5}">
                      <a16:colId xmlns:a16="http://schemas.microsoft.com/office/drawing/2014/main" val="309790616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1585722110"/>
                    </a:ext>
                  </a:extLst>
                </a:gridCol>
              </a:tblGrid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Mixed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Synth−Real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Bias Score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(full / balanced)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 (mixed)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09550206"/>
                  </a:ext>
                </a:extLst>
              </a:tr>
              <a:tr h="31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RoBERTa</a:t>
                      </a:r>
                      <a:r>
                        <a:rPr lang="en-US" b="1" dirty="0">
                          <a:effectLst/>
                        </a:rPr>
                        <a:t>-base</a:t>
                      </a:r>
                      <a:r>
                        <a:rPr lang="en-US" dirty="0">
                          <a:effectLst/>
                        </a:rPr>
                        <a:t> (125M,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−11.8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+0.280</a:t>
                      </a:r>
                      <a:r>
                        <a:rPr lang="en-US" dirty="0">
                          <a:effectLst/>
                        </a:rPr>
                        <a:t> / +0.297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+0.050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23286380"/>
                  </a:ext>
                </a:extLst>
              </a:tr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DeBERTa-v3-base</a:t>
                      </a:r>
                      <a:r>
                        <a:rPr lang="en-US" dirty="0">
                          <a:effectLst/>
                        </a:rPr>
                        <a:t> (184M,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0.847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0.836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−13.0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+0.166</a:t>
                      </a:r>
                      <a:r>
                        <a:rPr lang="en-US" dirty="0">
                          <a:effectLst/>
                        </a:rPr>
                        <a:t> / +0.195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4252477"/>
                  </a:ext>
                </a:extLst>
              </a:tr>
              <a:tr h="7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BERTweet</a:t>
                      </a:r>
                      <a:r>
                        <a:rPr lang="en-US" dirty="0">
                          <a:effectLst/>
                        </a:rPr>
                        <a:t>  (134M, full FT, tweet-pretrained)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−11.3 pp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+0.068</a:t>
                      </a:r>
                      <a:r>
                        <a:rPr lang="en-US" dirty="0">
                          <a:effectLst/>
                        </a:rPr>
                        <a:t> / +0.098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−0.049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67155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C35820-171F-FCA6-8E88-65A708BBE6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475589"/>
              </p:ext>
            </p:extLst>
          </p:nvPr>
        </p:nvGraphicFramePr>
        <p:xfrm>
          <a:off x="3429000" y="4212166"/>
          <a:ext cx="85693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802">
                  <a:extLst>
                    <a:ext uri="{9D8B030D-6E8A-4147-A177-3AD203B41FA5}">
                      <a16:colId xmlns:a16="http://schemas.microsoft.com/office/drawing/2014/main" val="1462925842"/>
                    </a:ext>
                  </a:extLst>
                </a:gridCol>
                <a:gridCol w="1591782">
                  <a:extLst>
                    <a:ext uri="{9D8B030D-6E8A-4147-A177-3AD203B41FA5}">
                      <a16:colId xmlns:a16="http://schemas.microsoft.com/office/drawing/2014/main" val="305103282"/>
                    </a:ext>
                  </a:extLst>
                </a:gridCol>
                <a:gridCol w="1480079">
                  <a:extLst>
                    <a:ext uri="{9D8B030D-6E8A-4147-A177-3AD203B41FA5}">
                      <a16:colId xmlns:a16="http://schemas.microsoft.com/office/drawing/2014/main" val="1458508266"/>
                    </a:ext>
                  </a:extLst>
                </a:gridCol>
                <a:gridCol w="1428221">
                  <a:extLst>
                    <a:ext uri="{9D8B030D-6E8A-4147-A177-3AD203B41FA5}">
                      <a16:colId xmlns:a16="http://schemas.microsoft.com/office/drawing/2014/main" val="3719860267"/>
                    </a:ext>
                  </a:extLst>
                </a:gridCol>
                <a:gridCol w="1684333">
                  <a:extLst>
                    <a:ext uri="{9D8B030D-6E8A-4147-A177-3AD203B41FA5}">
                      <a16:colId xmlns:a16="http://schemas.microsoft.com/office/drawing/2014/main" val="1068149818"/>
                    </a:ext>
                  </a:extLst>
                </a:gridCol>
                <a:gridCol w="1172109">
                  <a:extLst>
                    <a:ext uri="{9D8B030D-6E8A-4147-A177-3AD203B41FA5}">
                      <a16:colId xmlns:a16="http://schemas.microsoft.com/office/drawing/2014/main" val="421321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Mixed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Avg.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33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Donald Trump</a:t>
                      </a:r>
                      <a:endParaRPr lang="en-US" sz="1200" b="1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0.845 / 0.875 / 0.844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0.664 / 0.685 / 0.674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0.829 / 0.862 / 0.823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−18.1 / −19.0 / −17.0 pp</a:t>
                      </a:r>
                      <a:endParaRPr lang="en-US" sz="12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−18.0</a:t>
                      </a:r>
                      <a:endParaRPr lang="en-US" sz="12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2695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Joe Biden</a:t>
                      </a:r>
                      <a:endParaRPr lang="en-US" sz="1200" b="1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0.835 / 0.854 / 0.820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0.765 / 0.786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0.822 / 0.850 / 0.814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−7.0 / −6.8 / −6.0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−6.6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9492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Bernie Sanders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0.774 / 0.800 / 0.777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0.672 / 0.672 / 0.671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0.769 / 0.782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−10.2 / −12.8 / −10.6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−</a:t>
                      </a:r>
                      <a:r>
                        <a:rPr lang="en-US" sz="1200" b="0" dirty="0">
                          <a:effectLst/>
                        </a:rPr>
                        <a:t>11.2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24138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6C3D71-8DC6-2BF1-A04C-90FCB21D9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5200" y="384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Per-target macro-F1</a:t>
            </a:r>
            <a:r>
              <a:rPr lang="en-US" dirty="0"/>
              <a:t>: </a:t>
            </a:r>
            <a:r>
              <a:rPr lang="en-US" dirty="0" err="1"/>
              <a:t>RoBERTa</a:t>
            </a:r>
            <a:r>
              <a:rPr lang="en-US" dirty="0"/>
              <a:t> | DeBERTa-v3 | </a:t>
            </a:r>
            <a:r>
              <a:rPr lang="en-US" dirty="0" err="1"/>
              <a:t>BERTweet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394F5-9250-7964-02EC-C7A5F6F9129D}"/>
              </a:ext>
            </a:extLst>
          </p:cNvPr>
          <p:cNvSpPr txBox="1">
            <a:spLocks/>
          </p:cNvSpPr>
          <p:nvPr/>
        </p:nvSpPr>
        <p:spPr>
          <a:xfrm>
            <a:off x="3837516" y="971649"/>
            <a:ext cx="432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overall F1 + Bias Score </a:t>
            </a:r>
            <a:r>
              <a:rPr lang="en-US" dirty="0"/>
              <a:t>Trump Vs Biden: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B5056-94F3-DFBA-71C6-4389D7B4FB3A}"/>
              </a:ext>
            </a:extLst>
          </p:cNvPr>
          <p:cNvSpPr txBox="1"/>
          <p:nvPr/>
        </p:nvSpPr>
        <p:spPr>
          <a:xfrm>
            <a:off x="5609070" y="6308209"/>
            <a:ext cx="375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pp = percentage points (absoute Δ)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723CD-0BCB-69D2-DDE9-F269796E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358" y="429422"/>
            <a:ext cx="142894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0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794B9-B236-0688-5B47-053C1EE8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Findings &amp; Next Steps</a:t>
            </a:r>
            <a:endParaRPr lang="en-US" sz="4000" u="sng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2322E-BCAD-6E9D-D080-B87B5A241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5844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779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4A14-218F-88AD-AEC1-EC78D266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402"/>
          </a:xfrm>
        </p:spPr>
        <p:txBody>
          <a:bodyPr/>
          <a:lstStyle/>
          <a:p>
            <a:pPr algn="ctr"/>
            <a:r>
              <a:rPr lang="en-US" b="1" u="sng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A9DE-98D4-ED32-175E-D7AA02B2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011"/>
            <a:ext cx="10515600" cy="4773952"/>
          </a:xfrm>
        </p:spPr>
        <p:txBody>
          <a:bodyPr>
            <a:normAutofit/>
          </a:bodyPr>
          <a:lstStyle/>
          <a:p>
            <a:r>
              <a:rPr lang="en-US" sz="2000" dirty="0"/>
              <a:t>Wagner, Stefan &amp; Behrendt, Maike &amp; </a:t>
            </a:r>
            <a:r>
              <a:rPr lang="en-US" sz="2000" dirty="0" err="1"/>
              <a:t>Ziegele</a:t>
            </a:r>
            <a:r>
              <a:rPr lang="en-US" sz="2000" dirty="0"/>
              <a:t>, Marc &amp; Harmeling, Stefan. (2024). The Power of LLM-Generated Synthetic Data for Stance Detection in Online Political Discussions. 10.48550/arXiv.2406.12480. </a:t>
            </a:r>
          </a:p>
          <a:p>
            <a:r>
              <a:rPr lang="en-US" sz="2000" dirty="0" err="1"/>
              <a:t>Santurkar</a:t>
            </a:r>
            <a:r>
              <a:rPr lang="en-US" sz="2000" dirty="0"/>
              <a:t>, Shibani &amp; Durmus, Esin &amp; </a:t>
            </a:r>
            <a:r>
              <a:rPr lang="en-US" sz="2000" dirty="0" err="1"/>
              <a:t>Ladhak</a:t>
            </a:r>
            <a:r>
              <a:rPr lang="en-US" sz="2000" dirty="0"/>
              <a:t>, Faisal &amp; Lee, </a:t>
            </a:r>
            <a:r>
              <a:rPr lang="en-US" sz="2000" dirty="0" err="1"/>
              <a:t>Cinoo</a:t>
            </a:r>
            <a:r>
              <a:rPr lang="en-US" sz="2000" dirty="0"/>
              <a:t> &amp; Liang, Percy &amp; Hashimoto, </a:t>
            </a:r>
            <a:r>
              <a:rPr lang="en-US" sz="2000" dirty="0" err="1"/>
              <a:t>Tatsunori</a:t>
            </a:r>
            <a:r>
              <a:rPr lang="en-US" sz="2000" dirty="0"/>
              <a:t>. (2023). Whose Opinions Do Language Models Reflect?. 10.48550/arXiv.2303.17548. </a:t>
            </a:r>
          </a:p>
          <a:p>
            <a:r>
              <a:rPr lang="en-US" sz="2000" dirty="0"/>
              <a:t>Feng, </a:t>
            </a:r>
            <a:r>
              <a:rPr lang="en-US" sz="2000" dirty="0" err="1"/>
              <a:t>Shangbin</a:t>
            </a:r>
            <a:r>
              <a:rPr lang="en-US" sz="2000" dirty="0"/>
              <a:t> &amp; Park, Chan &amp; Liu, Yuhan &amp; Tsvetkov, Yulia. (2023). From Pretraining Data to Language Models to Downstream Tasks: Tracking the Trails of Political Biases Leading to Unfair NLP Models. 11737-11762. 10.18653/v1/2023.acl-long.656.</a:t>
            </a:r>
          </a:p>
        </p:txBody>
      </p:sp>
    </p:spTree>
    <p:extLst>
      <p:ext uri="{BB962C8B-B14F-4D97-AF65-F5344CB8AC3E}">
        <p14:creationId xmlns:p14="http://schemas.microsoft.com/office/powerpoint/2010/main" val="379470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677F6-155F-A2A5-47BD-3D95EFC0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3"/>
            <a:ext cx="2663066" cy="63335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0D193483-D6DC-E133-78E9-70C5BD3E7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0229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1259</Words>
  <Application>Microsoft Office PowerPoint</Application>
  <PresentationFormat>Widescreen</PresentationFormat>
  <Paragraphs>318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Office Theme</vt:lpstr>
      <vt:lpstr>Political Bias Transfer in LLM-Generated Training Data</vt:lpstr>
      <vt:lpstr>Research Questions</vt:lpstr>
      <vt:lpstr>PowerPoint Presentation</vt:lpstr>
      <vt:lpstr>Real data: P-Stance</vt:lpstr>
      <vt:lpstr>Synthetic dataset  7 generators × 7,200 tweets each = 50,400 total</vt:lpstr>
      <vt:lpstr>Synthetic Dataset Sample</vt:lpstr>
      <vt:lpstr>Synthetic Dataset Audit</vt:lpstr>
      <vt:lpstr>Training &amp; Eval</vt:lpstr>
      <vt:lpstr>Results:</vt:lpstr>
      <vt:lpstr>Findings &amp; Next Steps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Varghese</dc:creator>
  <cp:lastModifiedBy>Milan Varghese</cp:lastModifiedBy>
  <cp:revision>24</cp:revision>
  <dcterms:created xsi:type="dcterms:W3CDTF">2026-05-03T21:46:11Z</dcterms:created>
  <dcterms:modified xsi:type="dcterms:W3CDTF">2026-05-04T14:00:10Z</dcterms:modified>
</cp:coreProperties>
</file>