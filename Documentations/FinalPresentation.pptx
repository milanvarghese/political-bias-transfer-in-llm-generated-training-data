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7" r:id="rId9"/>
    <p:sldId id="263" r:id="rId10"/>
    <p:sldId id="268" r:id="rId11"/>
    <p:sldId id="269" r:id="rId12"/>
    <p:sldId id="270" r:id="rId13"/>
    <p:sldId id="271" r:id="rId14"/>
    <p:sldId id="262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2" autoAdjust="0"/>
    <p:restoredTop sz="94660"/>
  </p:normalViewPr>
  <p:slideViewPr>
    <p:cSldViewPr snapToGrid="0">
      <p:cViewPr varScale="1">
        <p:scale>
          <a:sx n="85" d="100"/>
          <a:sy n="85" d="100"/>
        </p:scale>
        <p:origin x="6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8B4A4D-439C-4834-BB41-8B5AF98677E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6F64312-15E0-453B-9EC0-EB811B5854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RQ1 &amp; RQ2: Bias transfer is real and architecture-independent.</a:t>
          </a:r>
          <a:r>
            <a:rPr lang="en-US" dirty="0"/>
            <a:t> </a:t>
          </a:r>
          <a:br>
            <a:rPr lang="en-US" dirty="0"/>
          </a:br>
          <a:r>
            <a:rPr lang="en-US" dirty="0"/>
            <a:t>Direction (anti-Trump) </a:t>
          </a:r>
        </a:p>
      </dgm:t>
    </dgm:pt>
    <dgm:pt modelId="{B4E434FF-6FC9-4D20-B4D5-C0C2DC6D5DA7}" type="parTrans" cxnId="{2DEBB543-1BCB-4C85-85E1-1F4EE83DDDF1}">
      <dgm:prSet/>
      <dgm:spPr/>
      <dgm:t>
        <a:bodyPr/>
        <a:lstStyle/>
        <a:p>
          <a:endParaRPr lang="en-US"/>
        </a:p>
      </dgm:t>
    </dgm:pt>
    <dgm:pt modelId="{980EBA4F-4A5E-4ACD-B2DE-4B84053AE8BC}" type="sibTrans" cxnId="{2DEBB543-1BCB-4C85-85E1-1F4EE83DDDF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80ED24F-5F81-47BA-B341-27717FED10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Trump suffers disproportionately: </a:t>
          </a:r>
          <a:r>
            <a:rPr lang="en-US"/>
            <a:t>2.7× the F1 drop of Biden.</a:t>
          </a:r>
        </a:p>
      </dgm:t>
    </dgm:pt>
    <dgm:pt modelId="{75E29E0D-AECA-4CE7-A08E-74CB08C60A33}" type="parTrans" cxnId="{2BDB8076-968E-4105-A07C-F10BFB0B9D93}">
      <dgm:prSet/>
      <dgm:spPr/>
      <dgm:t>
        <a:bodyPr/>
        <a:lstStyle/>
        <a:p>
          <a:endParaRPr lang="en-US"/>
        </a:p>
      </dgm:t>
    </dgm:pt>
    <dgm:pt modelId="{EE0BFE4B-E9BB-4E88-A56E-6A925A0A6673}" type="sibTrans" cxnId="{2BDB8076-968E-4105-A07C-F10BFB0B9D9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503E425-F2DC-4079-84A4-19DEE4A7A3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Tweet-pretrained classifiers resist bias better.</a:t>
          </a:r>
          <a:r>
            <a:rPr lang="en-US" dirty="0"/>
            <a:t> </a:t>
          </a:r>
        </a:p>
        <a:p>
          <a:pPr>
            <a:lnSpc>
              <a:spcPct val="100000"/>
            </a:lnSpc>
          </a:pPr>
          <a:r>
            <a:rPr lang="en-US" dirty="0" err="1"/>
            <a:t>BERTweet's</a:t>
          </a:r>
          <a:r>
            <a:rPr lang="en-US" dirty="0"/>
            <a:t> lower Bias Score (+0.068) </a:t>
          </a:r>
        </a:p>
      </dgm:t>
    </dgm:pt>
    <dgm:pt modelId="{300FEEB2-D298-4954-B78D-0B5C32117F95}" type="parTrans" cxnId="{BE4BB4A9-C9EF-41F0-942E-0F57CD6A6180}">
      <dgm:prSet/>
      <dgm:spPr/>
      <dgm:t>
        <a:bodyPr/>
        <a:lstStyle/>
        <a:p>
          <a:endParaRPr lang="en-US"/>
        </a:p>
      </dgm:t>
    </dgm:pt>
    <dgm:pt modelId="{4EEEB9E4-5158-4750-9B15-6714381D39FB}" type="sibTrans" cxnId="{BE4BB4A9-C9EF-41F0-942E-0F57CD6A618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E94D322-2D5E-4F20-88C7-572E3922B2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RQ3: BIAS SHIFT FIX?</a:t>
          </a:r>
        </a:p>
        <a:p>
          <a:pPr>
            <a:lnSpc>
              <a:spcPct val="100000"/>
            </a:lnSpc>
          </a:pPr>
          <a:r>
            <a:rPr lang="en-US" b="1" dirty="0"/>
            <a:t>Mixing real + synthetic effectively eliminates the bias.</a:t>
          </a:r>
          <a:endParaRPr lang="en-US" dirty="0"/>
        </a:p>
      </dgm:t>
    </dgm:pt>
    <dgm:pt modelId="{D04F125D-AFF7-40A6-9348-8CC1E5C6EAFD}" type="parTrans" cxnId="{E9480326-B7A3-4C2B-901B-47F7FF2E7591}">
      <dgm:prSet/>
      <dgm:spPr/>
      <dgm:t>
        <a:bodyPr/>
        <a:lstStyle/>
        <a:p>
          <a:endParaRPr lang="en-US"/>
        </a:p>
      </dgm:t>
    </dgm:pt>
    <dgm:pt modelId="{B7FF1CB5-74A5-4FC4-8134-17BC3CB76C03}" type="sibTrans" cxnId="{E9480326-B7A3-4C2B-901B-47F7FF2E759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FD8BED2-8BC1-4692-A331-0A1BDD1D5B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Robustness check:</a:t>
          </a:r>
          <a:r>
            <a:rPr lang="en-US"/>
            <a:t> bias is </a:t>
          </a:r>
          <a:r>
            <a:rPr lang="en-US" b="1"/>
            <a:t>content-driven</a:t>
          </a:r>
          <a:r>
            <a:rPr lang="en-US"/>
            <a:t>, not from test-set class imbalance.</a:t>
          </a:r>
        </a:p>
      </dgm:t>
    </dgm:pt>
    <dgm:pt modelId="{BCA490F6-96A8-4771-87E1-6DB440B3E1B1}" type="parTrans" cxnId="{211CE1F3-CF8C-48EE-95C5-F019AF60885B}">
      <dgm:prSet/>
      <dgm:spPr/>
      <dgm:t>
        <a:bodyPr/>
        <a:lstStyle/>
        <a:p>
          <a:endParaRPr lang="en-US"/>
        </a:p>
      </dgm:t>
    </dgm:pt>
    <dgm:pt modelId="{DE4B0EF2-FD95-4819-9900-41322578B357}" type="sibTrans" cxnId="{211CE1F3-CF8C-48EE-95C5-F019AF60885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AFBBA32-7B78-44C4-811F-B7C43C1BB2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Next steps: </a:t>
          </a:r>
          <a:br>
            <a:rPr lang="en-US" b="1" dirty="0"/>
          </a:br>
          <a:r>
            <a:rPr lang="en-US" dirty="0"/>
            <a:t>Replicate on </a:t>
          </a:r>
          <a:r>
            <a:rPr lang="en-US" b="1" dirty="0"/>
            <a:t>Llama-3-8B-base with </a:t>
          </a:r>
          <a:r>
            <a:rPr lang="en-US" b="1" dirty="0" err="1"/>
            <a:t>LoRA</a:t>
          </a:r>
          <a:r>
            <a:rPr lang="en-US" b="1" dirty="0"/>
            <a:t> </a:t>
          </a:r>
          <a:r>
            <a:rPr lang="en-US" dirty="0"/>
            <a:t>model </a:t>
          </a:r>
          <a:r>
            <a:rPr lang="en-US" b="1" dirty="0"/>
            <a:t> + </a:t>
          </a:r>
          <a:r>
            <a:rPr lang="en-US" dirty="0"/>
            <a:t>Ablation training across all synthetic datasets + Paper Write Up</a:t>
          </a:r>
        </a:p>
      </dgm:t>
    </dgm:pt>
    <dgm:pt modelId="{7C75C727-8FC6-456A-83C0-833E37BA625D}" type="parTrans" cxnId="{45561429-54DA-40B9-BAE2-5C3C90CDA32B}">
      <dgm:prSet/>
      <dgm:spPr/>
      <dgm:t>
        <a:bodyPr/>
        <a:lstStyle/>
        <a:p>
          <a:endParaRPr lang="en-US"/>
        </a:p>
      </dgm:t>
    </dgm:pt>
    <dgm:pt modelId="{424897AD-68B1-4811-8031-BB59E0AF2BF7}" type="sibTrans" cxnId="{45561429-54DA-40B9-BAE2-5C3C90CDA32B}">
      <dgm:prSet/>
      <dgm:spPr/>
      <dgm:t>
        <a:bodyPr/>
        <a:lstStyle/>
        <a:p>
          <a:endParaRPr lang="en-US"/>
        </a:p>
      </dgm:t>
    </dgm:pt>
    <dgm:pt modelId="{4A3589B8-1E6B-4983-90F7-CF9FB85F3315}" type="pres">
      <dgm:prSet presAssocID="{978B4A4D-439C-4834-BB41-8B5AF98677E7}" presName="root" presStyleCnt="0">
        <dgm:presLayoutVars>
          <dgm:dir/>
          <dgm:resizeHandles val="exact"/>
        </dgm:presLayoutVars>
      </dgm:prSet>
      <dgm:spPr/>
    </dgm:pt>
    <dgm:pt modelId="{941D0967-0122-4829-B933-66E39B8F5A8C}" type="pres">
      <dgm:prSet presAssocID="{978B4A4D-439C-4834-BB41-8B5AF98677E7}" presName="container" presStyleCnt="0">
        <dgm:presLayoutVars>
          <dgm:dir/>
          <dgm:resizeHandles val="exact"/>
        </dgm:presLayoutVars>
      </dgm:prSet>
      <dgm:spPr/>
    </dgm:pt>
    <dgm:pt modelId="{52A7EE72-C328-4570-9F74-93A13605B9D1}" type="pres">
      <dgm:prSet presAssocID="{76F64312-15E0-453B-9EC0-EB811B5854CF}" presName="compNode" presStyleCnt="0"/>
      <dgm:spPr/>
    </dgm:pt>
    <dgm:pt modelId="{7C95EBBD-6A10-48E9-8B4A-937D8759C8DC}" type="pres">
      <dgm:prSet presAssocID="{76F64312-15E0-453B-9EC0-EB811B5854CF}" presName="iconBgRect" presStyleLbl="bgShp" presStyleIdx="0" presStyleCnt="6"/>
      <dgm:spPr/>
    </dgm:pt>
    <dgm:pt modelId="{C87DB65D-1420-4987-BC00-98318E71BB45}" type="pres">
      <dgm:prSet presAssocID="{76F64312-15E0-453B-9EC0-EB811B5854CF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CAEFA89-C04E-4DE7-A044-2CD3648EFBC8}" type="pres">
      <dgm:prSet presAssocID="{76F64312-15E0-453B-9EC0-EB811B5854CF}" presName="spaceRect" presStyleCnt="0"/>
      <dgm:spPr/>
    </dgm:pt>
    <dgm:pt modelId="{9CF3A57A-B0C8-4398-B533-59F1605EEB99}" type="pres">
      <dgm:prSet presAssocID="{76F64312-15E0-453B-9EC0-EB811B5854CF}" presName="textRect" presStyleLbl="revTx" presStyleIdx="0" presStyleCnt="6">
        <dgm:presLayoutVars>
          <dgm:chMax val="1"/>
          <dgm:chPref val="1"/>
        </dgm:presLayoutVars>
      </dgm:prSet>
      <dgm:spPr/>
    </dgm:pt>
    <dgm:pt modelId="{9776DDD0-35C1-448C-9AC5-B4423F785493}" type="pres">
      <dgm:prSet presAssocID="{980EBA4F-4A5E-4ACD-B2DE-4B84053AE8BC}" presName="sibTrans" presStyleLbl="sibTrans2D1" presStyleIdx="0" presStyleCnt="0"/>
      <dgm:spPr/>
    </dgm:pt>
    <dgm:pt modelId="{F6AD3321-26EC-4332-BF4A-DF130E5D045A}" type="pres">
      <dgm:prSet presAssocID="{080ED24F-5F81-47BA-B341-27717FED10D4}" presName="compNode" presStyleCnt="0"/>
      <dgm:spPr/>
    </dgm:pt>
    <dgm:pt modelId="{F625811C-D968-40B1-BA1F-D74EAF8B72A7}" type="pres">
      <dgm:prSet presAssocID="{080ED24F-5F81-47BA-B341-27717FED10D4}" presName="iconBgRect" presStyleLbl="bgShp" presStyleIdx="1" presStyleCnt="6"/>
      <dgm:spPr/>
    </dgm:pt>
    <dgm:pt modelId="{0AD7F2C2-5266-4A3E-AE3A-A114A0524BE2}" type="pres">
      <dgm:prSet presAssocID="{080ED24F-5F81-47BA-B341-27717FED10D4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1E8EFD01-E8ED-4A27-A3A7-5DDD8EE408CF}" type="pres">
      <dgm:prSet presAssocID="{080ED24F-5F81-47BA-B341-27717FED10D4}" presName="spaceRect" presStyleCnt="0"/>
      <dgm:spPr/>
    </dgm:pt>
    <dgm:pt modelId="{4EE1F6D8-C5D7-480D-BBC9-271377B27CCA}" type="pres">
      <dgm:prSet presAssocID="{080ED24F-5F81-47BA-B341-27717FED10D4}" presName="textRect" presStyleLbl="revTx" presStyleIdx="1" presStyleCnt="6">
        <dgm:presLayoutVars>
          <dgm:chMax val="1"/>
          <dgm:chPref val="1"/>
        </dgm:presLayoutVars>
      </dgm:prSet>
      <dgm:spPr/>
    </dgm:pt>
    <dgm:pt modelId="{024AA4C9-2425-407D-844B-52306433A9E8}" type="pres">
      <dgm:prSet presAssocID="{EE0BFE4B-E9BB-4E88-A56E-6A925A0A6673}" presName="sibTrans" presStyleLbl="sibTrans2D1" presStyleIdx="0" presStyleCnt="0"/>
      <dgm:spPr/>
    </dgm:pt>
    <dgm:pt modelId="{EB8FD578-4294-4D5B-8ADD-BA69134C7D43}" type="pres">
      <dgm:prSet presAssocID="{7503E425-F2DC-4079-84A4-19DEE4A7A351}" presName="compNode" presStyleCnt="0"/>
      <dgm:spPr/>
    </dgm:pt>
    <dgm:pt modelId="{F6C3F349-25D0-4036-A4AA-C6AF7EF6F403}" type="pres">
      <dgm:prSet presAssocID="{7503E425-F2DC-4079-84A4-19DEE4A7A351}" presName="iconBgRect" presStyleLbl="bgShp" presStyleIdx="2" presStyleCnt="6"/>
      <dgm:spPr/>
    </dgm:pt>
    <dgm:pt modelId="{4FE21DD1-1541-48A6-BEC7-C060DB0A65B3}" type="pres">
      <dgm:prSet presAssocID="{7503E425-F2DC-4079-84A4-19DEE4A7A351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BB2D149-4D4A-487A-87CB-D8425A43C580}" type="pres">
      <dgm:prSet presAssocID="{7503E425-F2DC-4079-84A4-19DEE4A7A351}" presName="spaceRect" presStyleCnt="0"/>
      <dgm:spPr/>
    </dgm:pt>
    <dgm:pt modelId="{BB6FD5FB-9FD8-48F6-B6AE-E0FCE66C0F75}" type="pres">
      <dgm:prSet presAssocID="{7503E425-F2DC-4079-84A4-19DEE4A7A351}" presName="textRect" presStyleLbl="revTx" presStyleIdx="2" presStyleCnt="6">
        <dgm:presLayoutVars>
          <dgm:chMax val="1"/>
          <dgm:chPref val="1"/>
        </dgm:presLayoutVars>
      </dgm:prSet>
      <dgm:spPr/>
    </dgm:pt>
    <dgm:pt modelId="{09F217B8-1C1B-459F-9842-7E0032FDD98F}" type="pres">
      <dgm:prSet presAssocID="{4EEEB9E4-5158-4750-9B15-6714381D39FB}" presName="sibTrans" presStyleLbl="sibTrans2D1" presStyleIdx="0" presStyleCnt="0"/>
      <dgm:spPr/>
    </dgm:pt>
    <dgm:pt modelId="{688D632A-16F5-4BFE-9AEA-B9BCD94719F3}" type="pres">
      <dgm:prSet presAssocID="{6E94D322-2D5E-4F20-88C7-572E3922B229}" presName="compNode" presStyleCnt="0"/>
      <dgm:spPr/>
    </dgm:pt>
    <dgm:pt modelId="{16C3D0AA-80E1-4F47-B1EA-FDB55F1A85AF}" type="pres">
      <dgm:prSet presAssocID="{6E94D322-2D5E-4F20-88C7-572E3922B229}" presName="iconBgRect" presStyleLbl="bgShp" presStyleIdx="3" presStyleCnt="6"/>
      <dgm:spPr/>
    </dgm:pt>
    <dgm:pt modelId="{CD4A843E-45DF-4543-AD44-CF32A26DD492}" type="pres">
      <dgm:prSet presAssocID="{6E94D322-2D5E-4F20-88C7-572E3922B229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5477F543-51BC-4E88-9507-4D0642A89C50}" type="pres">
      <dgm:prSet presAssocID="{6E94D322-2D5E-4F20-88C7-572E3922B229}" presName="spaceRect" presStyleCnt="0"/>
      <dgm:spPr/>
    </dgm:pt>
    <dgm:pt modelId="{2CB46179-1118-47CB-BD65-0289429F9D91}" type="pres">
      <dgm:prSet presAssocID="{6E94D322-2D5E-4F20-88C7-572E3922B229}" presName="textRect" presStyleLbl="revTx" presStyleIdx="3" presStyleCnt="6">
        <dgm:presLayoutVars>
          <dgm:chMax val="1"/>
          <dgm:chPref val="1"/>
        </dgm:presLayoutVars>
      </dgm:prSet>
      <dgm:spPr/>
    </dgm:pt>
    <dgm:pt modelId="{287A47DD-EBE6-4DDC-A685-8A862B540B1E}" type="pres">
      <dgm:prSet presAssocID="{B7FF1CB5-74A5-4FC4-8134-17BC3CB76C03}" presName="sibTrans" presStyleLbl="sibTrans2D1" presStyleIdx="0" presStyleCnt="0"/>
      <dgm:spPr/>
    </dgm:pt>
    <dgm:pt modelId="{EF579A54-833D-4F8F-A51D-7E134B1D20A4}" type="pres">
      <dgm:prSet presAssocID="{9FD8BED2-8BC1-4692-A331-0A1BDD1D5B81}" presName="compNode" presStyleCnt="0"/>
      <dgm:spPr/>
    </dgm:pt>
    <dgm:pt modelId="{68C2B490-81D5-4FF7-8C63-A38CD89A5875}" type="pres">
      <dgm:prSet presAssocID="{9FD8BED2-8BC1-4692-A331-0A1BDD1D5B81}" presName="iconBgRect" presStyleLbl="bgShp" presStyleIdx="4" presStyleCnt="6"/>
      <dgm:spPr/>
    </dgm:pt>
    <dgm:pt modelId="{3673E48E-FEC2-41F0-9638-68A1788419EC}" type="pres">
      <dgm:prSet presAssocID="{9FD8BED2-8BC1-4692-A331-0A1BDD1D5B81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 dropper"/>
        </a:ext>
      </dgm:extLst>
    </dgm:pt>
    <dgm:pt modelId="{1A49E0F3-58FE-494B-A79A-EAA1D9378737}" type="pres">
      <dgm:prSet presAssocID="{9FD8BED2-8BC1-4692-A331-0A1BDD1D5B81}" presName="spaceRect" presStyleCnt="0"/>
      <dgm:spPr/>
    </dgm:pt>
    <dgm:pt modelId="{ADE68C33-EE90-4823-BCDC-2E132033D3CA}" type="pres">
      <dgm:prSet presAssocID="{9FD8BED2-8BC1-4692-A331-0A1BDD1D5B81}" presName="textRect" presStyleLbl="revTx" presStyleIdx="4" presStyleCnt="6">
        <dgm:presLayoutVars>
          <dgm:chMax val="1"/>
          <dgm:chPref val="1"/>
        </dgm:presLayoutVars>
      </dgm:prSet>
      <dgm:spPr/>
    </dgm:pt>
    <dgm:pt modelId="{1A489906-1ABB-468D-BE8E-635970F874C1}" type="pres">
      <dgm:prSet presAssocID="{DE4B0EF2-FD95-4819-9900-41322578B357}" presName="sibTrans" presStyleLbl="sibTrans2D1" presStyleIdx="0" presStyleCnt="0"/>
      <dgm:spPr/>
    </dgm:pt>
    <dgm:pt modelId="{D4354E25-A2DD-4B9E-A4B5-013E18A34478}" type="pres">
      <dgm:prSet presAssocID="{DAFBBA32-7B78-44C4-811F-B7C43C1BB206}" presName="compNode" presStyleCnt="0"/>
      <dgm:spPr/>
    </dgm:pt>
    <dgm:pt modelId="{8E1C160A-6712-4DDB-853E-805D367BCF83}" type="pres">
      <dgm:prSet presAssocID="{DAFBBA32-7B78-44C4-811F-B7C43C1BB206}" presName="iconBgRect" presStyleLbl="bgShp" presStyleIdx="5" presStyleCnt="6"/>
      <dgm:spPr/>
    </dgm:pt>
    <dgm:pt modelId="{842BD024-1824-4C3A-A7FA-B4C44E114BAC}" type="pres">
      <dgm:prSet presAssocID="{DAFBBA32-7B78-44C4-811F-B7C43C1BB206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lamation Mark"/>
        </a:ext>
      </dgm:extLst>
    </dgm:pt>
    <dgm:pt modelId="{11BF1CDC-3C98-4D16-B2AA-218C06D4DD1D}" type="pres">
      <dgm:prSet presAssocID="{DAFBBA32-7B78-44C4-811F-B7C43C1BB206}" presName="spaceRect" presStyleCnt="0"/>
      <dgm:spPr/>
    </dgm:pt>
    <dgm:pt modelId="{8ECC0569-1376-4F2F-A41A-286C55248C2E}" type="pres">
      <dgm:prSet presAssocID="{DAFBBA32-7B78-44C4-811F-B7C43C1BB206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ED6E40B-95E8-4A28-9209-A60197E1DBAE}" type="presOf" srcId="{EE0BFE4B-E9BB-4E88-A56E-6A925A0A6673}" destId="{024AA4C9-2425-407D-844B-52306433A9E8}" srcOrd="0" destOrd="0" presId="urn:microsoft.com/office/officeart/2018/2/layout/IconCircleList"/>
    <dgm:cxn modelId="{309A6121-1476-448B-83C3-48130049FF4B}" type="presOf" srcId="{9FD8BED2-8BC1-4692-A331-0A1BDD1D5B81}" destId="{ADE68C33-EE90-4823-BCDC-2E132033D3CA}" srcOrd="0" destOrd="0" presId="urn:microsoft.com/office/officeart/2018/2/layout/IconCircleList"/>
    <dgm:cxn modelId="{E9480326-B7A3-4C2B-901B-47F7FF2E7591}" srcId="{978B4A4D-439C-4834-BB41-8B5AF98677E7}" destId="{6E94D322-2D5E-4F20-88C7-572E3922B229}" srcOrd="3" destOrd="0" parTransId="{D04F125D-AFF7-40A6-9348-8CC1E5C6EAFD}" sibTransId="{B7FF1CB5-74A5-4FC4-8134-17BC3CB76C03}"/>
    <dgm:cxn modelId="{45561429-54DA-40B9-BAE2-5C3C90CDA32B}" srcId="{978B4A4D-439C-4834-BB41-8B5AF98677E7}" destId="{DAFBBA32-7B78-44C4-811F-B7C43C1BB206}" srcOrd="5" destOrd="0" parTransId="{7C75C727-8FC6-456A-83C0-833E37BA625D}" sibTransId="{424897AD-68B1-4811-8031-BB59E0AF2BF7}"/>
    <dgm:cxn modelId="{5C312C3E-4BB2-4416-91B6-432E726C6282}" type="presOf" srcId="{980EBA4F-4A5E-4ACD-B2DE-4B84053AE8BC}" destId="{9776DDD0-35C1-448C-9AC5-B4423F785493}" srcOrd="0" destOrd="0" presId="urn:microsoft.com/office/officeart/2018/2/layout/IconCircleList"/>
    <dgm:cxn modelId="{37E3F75D-2607-4466-8B2C-9C7E12EC0A51}" type="presOf" srcId="{4EEEB9E4-5158-4750-9B15-6714381D39FB}" destId="{09F217B8-1C1B-459F-9842-7E0032FDD98F}" srcOrd="0" destOrd="0" presId="urn:microsoft.com/office/officeart/2018/2/layout/IconCircleList"/>
    <dgm:cxn modelId="{2DEBB543-1BCB-4C85-85E1-1F4EE83DDDF1}" srcId="{978B4A4D-439C-4834-BB41-8B5AF98677E7}" destId="{76F64312-15E0-453B-9EC0-EB811B5854CF}" srcOrd="0" destOrd="0" parTransId="{B4E434FF-6FC9-4D20-B4D5-C0C2DC6D5DA7}" sibTransId="{980EBA4F-4A5E-4ACD-B2DE-4B84053AE8BC}"/>
    <dgm:cxn modelId="{56A2636A-84C3-47EC-BF8A-81152F64829F}" type="presOf" srcId="{978B4A4D-439C-4834-BB41-8B5AF98677E7}" destId="{4A3589B8-1E6B-4983-90F7-CF9FB85F3315}" srcOrd="0" destOrd="0" presId="urn:microsoft.com/office/officeart/2018/2/layout/IconCircleList"/>
    <dgm:cxn modelId="{0C0A276C-564E-4AA7-82A5-E4676D997757}" type="presOf" srcId="{DAFBBA32-7B78-44C4-811F-B7C43C1BB206}" destId="{8ECC0569-1376-4F2F-A41A-286C55248C2E}" srcOrd="0" destOrd="0" presId="urn:microsoft.com/office/officeart/2018/2/layout/IconCircleList"/>
    <dgm:cxn modelId="{2BDB8076-968E-4105-A07C-F10BFB0B9D93}" srcId="{978B4A4D-439C-4834-BB41-8B5AF98677E7}" destId="{080ED24F-5F81-47BA-B341-27717FED10D4}" srcOrd="1" destOrd="0" parTransId="{75E29E0D-AECA-4CE7-A08E-74CB08C60A33}" sibTransId="{EE0BFE4B-E9BB-4E88-A56E-6A925A0A6673}"/>
    <dgm:cxn modelId="{89B70B82-CB08-4685-8A93-8FB9AD80A755}" type="presOf" srcId="{B7FF1CB5-74A5-4FC4-8134-17BC3CB76C03}" destId="{287A47DD-EBE6-4DDC-A685-8A862B540B1E}" srcOrd="0" destOrd="0" presId="urn:microsoft.com/office/officeart/2018/2/layout/IconCircleList"/>
    <dgm:cxn modelId="{F7001A85-B00A-400C-A24C-916ADB854BE6}" type="presOf" srcId="{76F64312-15E0-453B-9EC0-EB811B5854CF}" destId="{9CF3A57A-B0C8-4398-B533-59F1605EEB99}" srcOrd="0" destOrd="0" presId="urn:microsoft.com/office/officeart/2018/2/layout/IconCircleList"/>
    <dgm:cxn modelId="{C86B159B-909C-49FB-830D-4550F893BE90}" type="presOf" srcId="{080ED24F-5F81-47BA-B341-27717FED10D4}" destId="{4EE1F6D8-C5D7-480D-BBC9-271377B27CCA}" srcOrd="0" destOrd="0" presId="urn:microsoft.com/office/officeart/2018/2/layout/IconCircleList"/>
    <dgm:cxn modelId="{BE4BB4A9-C9EF-41F0-942E-0F57CD6A6180}" srcId="{978B4A4D-439C-4834-BB41-8B5AF98677E7}" destId="{7503E425-F2DC-4079-84A4-19DEE4A7A351}" srcOrd="2" destOrd="0" parTransId="{300FEEB2-D298-4954-B78D-0B5C32117F95}" sibTransId="{4EEEB9E4-5158-4750-9B15-6714381D39FB}"/>
    <dgm:cxn modelId="{7BF3DCB5-6B88-4D2F-97B2-F9C2CD44FE70}" type="presOf" srcId="{7503E425-F2DC-4079-84A4-19DEE4A7A351}" destId="{BB6FD5FB-9FD8-48F6-B6AE-E0FCE66C0F75}" srcOrd="0" destOrd="0" presId="urn:microsoft.com/office/officeart/2018/2/layout/IconCircleList"/>
    <dgm:cxn modelId="{211CE1F3-CF8C-48EE-95C5-F019AF60885B}" srcId="{978B4A4D-439C-4834-BB41-8B5AF98677E7}" destId="{9FD8BED2-8BC1-4692-A331-0A1BDD1D5B81}" srcOrd="4" destOrd="0" parTransId="{BCA490F6-96A8-4771-87E1-6DB440B3E1B1}" sibTransId="{DE4B0EF2-FD95-4819-9900-41322578B357}"/>
    <dgm:cxn modelId="{5E31E4F3-69A4-4BE8-A1B5-00B2D8ECFDF8}" type="presOf" srcId="{6E94D322-2D5E-4F20-88C7-572E3922B229}" destId="{2CB46179-1118-47CB-BD65-0289429F9D91}" srcOrd="0" destOrd="0" presId="urn:microsoft.com/office/officeart/2018/2/layout/IconCircleList"/>
    <dgm:cxn modelId="{BBCA52F5-7C17-4F95-924F-A4FA3C3C6FE2}" type="presOf" srcId="{DE4B0EF2-FD95-4819-9900-41322578B357}" destId="{1A489906-1ABB-468D-BE8E-635970F874C1}" srcOrd="0" destOrd="0" presId="urn:microsoft.com/office/officeart/2018/2/layout/IconCircleList"/>
    <dgm:cxn modelId="{BE0C2DD9-CBCA-4B16-9F82-8A25D808487F}" type="presParOf" srcId="{4A3589B8-1E6B-4983-90F7-CF9FB85F3315}" destId="{941D0967-0122-4829-B933-66E39B8F5A8C}" srcOrd="0" destOrd="0" presId="urn:microsoft.com/office/officeart/2018/2/layout/IconCircleList"/>
    <dgm:cxn modelId="{E1825A7B-CCBE-4574-9D86-77B7060001BC}" type="presParOf" srcId="{941D0967-0122-4829-B933-66E39B8F5A8C}" destId="{52A7EE72-C328-4570-9F74-93A13605B9D1}" srcOrd="0" destOrd="0" presId="urn:microsoft.com/office/officeart/2018/2/layout/IconCircleList"/>
    <dgm:cxn modelId="{945ED6DA-5B81-4BA6-96B3-87EACFEDE637}" type="presParOf" srcId="{52A7EE72-C328-4570-9F74-93A13605B9D1}" destId="{7C95EBBD-6A10-48E9-8B4A-937D8759C8DC}" srcOrd="0" destOrd="0" presId="urn:microsoft.com/office/officeart/2018/2/layout/IconCircleList"/>
    <dgm:cxn modelId="{B9AB08BC-F4EB-47CC-BF2D-BC723DD4508A}" type="presParOf" srcId="{52A7EE72-C328-4570-9F74-93A13605B9D1}" destId="{C87DB65D-1420-4987-BC00-98318E71BB45}" srcOrd="1" destOrd="0" presId="urn:microsoft.com/office/officeart/2018/2/layout/IconCircleList"/>
    <dgm:cxn modelId="{29990889-9068-492C-AC83-17EF8845D186}" type="presParOf" srcId="{52A7EE72-C328-4570-9F74-93A13605B9D1}" destId="{3CAEFA89-C04E-4DE7-A044-2CD3648EFBC8}" srcOrd="2" destOrd="0" presId="urn:microsoft.com/office/officeart/2018/2/layout/IconCircleList"/>
    <dgm:cxn modelId="{D093268B-3FC9-4C2A-B5D7-7BA12CDA93FE}" type="presParOf" srcId="{52A7EE72-C328-4570-9F74-93A13605B9D1}" destId="{9CF3A57A-B0C8-4398-B533-59F1605EEB99}" srcOrd="3" destOrd="0" presId="urn:microsoft.com/office/officeart/2018/2/layout/IconCircleList"/>
    <dgm:cxn modelId="{62A203B8-13EA-4197-9561-F9490E8050B7}" type="presParOf" srcId="{941D0967-0122-4829-B933-66E39B8F5A8C}" destId="{9776DDD0-35C1-448C-9AC5-B4423F785493}" srcOrd="1" destOrd="0" presId="urn:microsoft.com/office/officeart/2018/2/layout/IconCircleList"/>
    <dgm:cxn modelId="{98CC85D3-6747-4141-87C9-529AB562B679}" type="presParOf" srcId="{941D0967-0122-4829-B933-66E39B8F5A8C}" destId="{F6AD3321-26EC-4332-BF4A-DF130E5D045A}" srcOrd="2" destOrd="0" presId="urn:microsoft.com/office/officeart/2018/2/layout/IconCircleList"/>
    <dgm:cxn modelId="{743A3D9A-D463-4522-B549-D6F796E74700}" type="presParOf" srcId="{F6AD3321-26EC-4332-BF4A-DF130E5D045A}" destId="{F625811C-D968-40B1-BA1F-D74EAF8B72A7}" srcOrd="0" destOrd="0" presId="urn:microsoft.com/office/officeart/2018/2/layout/IconCircleList"/>
    <dgm:cxn modelId="{8694A384-F513-4CD0-B3DF-3CF828EE3816}" type="presParOf" srcId="{F6AD3321-26EC-4332-BF4A-DF130E5D045A}" destId="{0AD7F2C2-5266-4A3E-AE3A-A114A0524BE2}" srcOrd="1" destOrd="0" presId="urn:microsoft.com/office/officeart/2018/2/layout/IconCircleList"/>
    <dgm:cxn modelId="{4ACD99EC-C3EF-447E-8BFC-C19E31815AF7}" type="presParOf" srcId="{F6AD3321-26EC-4332-BF4A-DF130E5D045A}" destId="{1E8EFD01-E8ED-4A27-A3A7-5DDD8EE408CF}" srcOrd="2" destOrd="0" presId="urn:microsoft.com/office/officeart/2018/2/layout/IconCircleList"/>
    <dgm:cxn modelId="{24996E39-0BAD-4851-97C7-0D19FA8890F8}" type="presParOf" srcId="{F6AD3321-26EC-4332-BF4A-DF130E5D045A}" destId="{4EE1F6D8-C5D7-480D-BBC9-271377B27CCA}" srcOrd="3" destOrd="0" presId="urn:microsoft.com/office/officeart/2018/2/layout/IconCircleList"/>
    <dgm:cxn modelId="{F75AC194-07F7-439E-873A-71319AD67622}" type="presParOf" srcId="{941D0967-0122-4829-B933-66E39B8F5A8C}" destId="{024AA4C9-2425-407D-844B-52306433A9E8}" srcOrd="3" destOrd="0" presId="urn:microsoft.com/office/officeart/2018/2/layout/IconCircleList"/>
    <dgm:cxn modelId="{049BE73B-8F2D-4528-9DF0-D1452EF456BD}" type="presParOf" srcId="{941D0967-0122-4829-B933-66E39B8F5A8C}" destId="{EB8FD578-4294-4D5B-8ADD-BA69134C7D43}" srcOrd="4" destOrd="0" presId="urn:microsoft.com/office/officeart/2018/2/layout/IconCircleList"/>
    <dgm:cxn modelId="{E1AD410E-7185-46E3-8A91-4AC1B1268670}" type="presParOf" srcId="{EB8FD578-4294-4D5B-8ADD-BA69134C7D43}" destId="{F6C3F349-25D0-4036-A4AA-C6AF7EF6F403}" srcOrd="0" destOrd="0" presId="urn:microsoft.com/office/officeart/2018/2/layout/IconCircleList"/>
    <dgm:cxn modelId="{666F25EF-35D1-4BAF-9A03-6F7A83C62563}" type="presParOf" srcId="{EB8FD578-4294-4D5B-8ADD-BA69134C7D43}" destId="{4FE21DD1-1541-48A6-BEC7-C060DB0A65B3}" srcOrd="1" destOrd="0" presId="urn:microsoft.com/office/officeart/2018/2/layout/IconCircleList"/>
    <dgm:cxn modelId="{E7BE687F-2C27-421B-9D60-5AAF736B37B7}" type="presParOf" srcId="{EB8FD578-4294-4D5B-8ADD-BA69134C7D43}" destId="{3BB2D149-4D4A-487A-87CB-D8425A43C580}" srcOrd="2" destOrd="0" presId="urn:microsoft.com/office/officeart/2018/2/layout/IconCircleList"/>
    <dgm:cxn modelId="{2D8D6D8A-252E-459D-AF90-2365F64F9247}" type="presParOf" srcId="{EB8FD578-4294-4D5B-8ADD-BA69134C7D43}" destId="{BB6FD5FB-9FD8-48F6-B6AE-E0FCE66C0F75}" srcOrd="3" destOrd="0" presId="urn:microsoft.com/office/officeart/2018/2/layout/IconCircleList"/>
    <dgm:cxn modelId="{C6D00868-E3C7-4638-91AA-6EA1FD4444B8}" type="presParOf" srcId="{941D0967-0122-4829-B933-66E39B8F5A8C}" destId="{09F217B8-1C1B-459F-9842-7E0032FDD98F}" srcOrd="5" destOrd="0" presId="urn:microsoft.com/office/officeart/2018/2/layout/IconCircleList"/>
    <dgm:cxn modelId="{2431DD7D-ECC2-42BC-821E-E965CDF85A57}" type="presParOf" srcId="{941D0967-0122-4829-B933-66E39B8F5A8C}" destId="{688D632A-16F5-4BFE-9AEA-B9BCD94719F3}" srcOrd="6" destOrd="0" presId="urn:microsoft.com/office/officeart/2018/2/layout/IconCircleList"/>
    <dgm:cxn modelId="{A74DFC78-7FBD-4991-9E0D-E5C06AEB6E40}" type="presParOf" srcId="{688D632A-16F5-4BFE-9AEA-B9BCD94719F3}" destId="{16C3D0AA-80E1-4F47-B1EA-FDB55F1A85AF}" srcOrd="0" destOrd="0" presId="urn:microsoft.com/office/officeart/2018/2/layout/IconCircleList"/>
    <dgm:cxn modelId="{5AB3E7D6-A3E1-4E92-A586-617F69F85881}" type="presParOf" srcId="{688D632A-16F5-4BFE-9AEA-B9BCD94719F3}" destId="{CD4A843E-45DF-4543-AD44-CF32A26DD492}" srcOrd="1" destOrd="0" presId="urn:microsoft.com/office/officeart/2018/2/layout/IconCircleList"/>
    <dgm:cxn modelId="{26EFC181-DD4F-457C-BB4F-B98E85ACC03B}" type="presParOf" srcId="{688D632A-16F5-4BFE-9AEA-B9BCD94719F3}" destId="{5477F543-51BC-4E88-9507-4D0642A89C50}" srcOrd="2" destOrd="0" presId="urn:microsoft.com/office/officeart/2018/2/layout/IconCircleList"/>
    <dgm:cxn modelId="{F3807756-959F-4910-9385-5C8C9956611E}" type="presParOf" srcId="{688D632A-16F5-4BFE-9AEA-B9BCD94719F3}" destId="{2CB46179-1118-47CB-BD65-0289429F9D91}" srcOrd="3" destOrd="0" presId="urn:microsoft.com/office/officeart/2018/2/layout/IconCircleList"/>
    <dgm:cxn modelId="{A3B687DC-D7A0-48AC-8D7F-97B85DF00F8A}" type="presParOf" srcId="{941D0967-0122-4829-B933-66E39B8F5A8C}" destId="{287A47DD-EBE6-4DDC-A685-8A862B540B1E}" srcOrd="7" destOrd="0" presId="urn:microsoft.com/office/officeart/2018/2/layout/IconCircleList"/>
    <dgm:cxn modelId="{2BBDABAF-9BBE-4320-B0B5-BA53A734BBA6}" type="presParOf" srcId="{941D0967-0122-4829-B933-66E39B8F5A8C}" destId="{EF579A54-833D-4F8F-A51D-7E134B1D20A4}" srcOrd="8" destOrd="0" presId="urn:microsoft.com/office/officeart/2018/2/layout/IconCircleList"/>
    <dgm:cxn modelId="{61B7ACDC-1FB6-4C09-8488-87F3423C5E17}" type="presParOf" srcId="{EF579A54-833D-4F8F-A51D-7E134B1D20A4}" destId="{68C2B490-81D5-4FF7-8C63-A38CD89A5875}" srcOrd="0" destOrd="0" presId="urn:microsoft.com/office/officeart/2018/2/layout/IconCircleList"/>
    <dgm:cxn modelId="{396E72CB-58AC-4E07-A3EE-CDB7BF465556}" type="presParOf" srcId="{EF579A54-833D-4F8F-A51D-7E134B1D20A4}" destId="{3673E48E-FEC2-41F0-9638-68A1788419EC}" srcOrd="1" destOrd="0" presId="urn:microsoft.com/office/officeart/2018/2/layout/IconCircleList"/>
    <dgm:cxn modelId="{AE928790-AE83-48F7-B7E3-25B196A1E44B}" type="presParOf" srcId="{EF579A54-833D-4F8F-A51D-7E134B1D20A4}" destId="{1A49E0F3-58FE-494B-A79A-EAA1D9378737}" srcOrd="2" destOrd="0" presId="urn:microsoft.com/office/officeart/2018/2/layout/IconCircleList"/>
    <dgm:cxn modelId="{92C12132-CBBF-4C9B-9A1B-4A28F6001088}" type="presParOf" srcId="{EF579A54-833D-4F8F-A51D-7E134B1D20A4}" destId="{ADE68C33-EE90-4823-BCDC-2E132033D3CA}" srcOrd="3" destOrd="0" presId="urn:microsoft.com/office/officeart/2018/2/layout/IconCircleList"/>
    <dgm:cxn modelId="{429A832A-2D55-4D1F-B695-609C5230DA58}" type="presParOf" srcId="{941D0967-0122-4829-B933-66E39B8F5A8C}" destId="{1A489906-1ABB-468D-BE8E-635970F874C1}" srcOrd="9" destOrd="0" presId="urn:microsoft.com/office/officeart/2018/2/layout/IconCircleList"/>
    <dgm:cxn modelId="{54324E70-0599-49DD-BF2A-D6A4E06830BF}" type="presParOf" srcId="{941D0967-0122-4829-B933-66E39B8F5A8C}" destId="{D4354E25-A2DD-4B9E-A4B5-013E18A34478}" srcOrd="10" destOrd="0" presId="urn:microsoft.com/office/officeart/2018/2/layout/IconCircleList"/>
    <dgm:cxn modelId="{44A3A486-D093-428A-BE1D-2EE64F652DDC}" type="presParOf" srcId="{D4354E25-A2DD-4B9E-A4B5-013E18A34478}" destId="{8E1C160A-6712-4DDB-853E-805D367BCF83}" srcOrd="0" destOrd="0" presId="urn:microsoft.com/office/officeart/2018/2/layout/IconCircleList"/>
    <dgm:cxn modelId="{F842C36B-4500-4EE5-A875-3B987D5DD0CC}" type="presParOf" srcId="{D4354E25-A2DD-4B9E-A4B5-013E18A34478}" destId="{842BD024-1824-4C3A-A7FA-B4C44E114BAC}" srcOrd="1" destOrd="0" presId="urn:microsoft.com/office/officeart/2018/2/layout/IconCircleList"/>
    <dgm:cxn modelId="{62B1F2CD-32D5-4C06-B792-665F0B6DA5AA}" type="presParOf" srcId="{D4354E25-A2DD-4B9E-A4B5-013E18A34478}" destId="{11BF1CDC-3C98-4D16-B2AA-218C06D4DD1D}" srcOrd="2" destOrd="0" presId="urn:microsoft.com/office/officeart/2018/2/layout/IconCircleList"/>
    <dgm:cxn modelId="{0DDBCC7C-58E4-47DD-8ABD-701F90B8B729}" type="presParOf" srcId="{D4354E25-A2DD-4B9E-A4B5-013E18A34478}" destId="{8ECC0569-1376-4F2F-A41A-286C55248C2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95EBBD-6A10-48E9-8B4A-937D8759C8DC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7DB65D-1420-4987-BC00-98318E71BB45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F3A57A-B0C8-4398-B533-59F1605EEB99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RQ1 &amp; RQ2: Bias transfer is real and architecture-independent.</a:t>
          </a:r>
          <a:r>
            <a:rPr lang="en-US" sz="1100" kern="1200" dirty="0"/>
            <a:t> </a:t>
          </a:r>
          <a:br>
            <a:rPr lang="en-US" sz="1100" kern="1200" dirty="0"/>
          </a:br>
          <a:r>
            <a:rPr lang="en-US" sz="1100" kern="1200" dirty="0"/>
            <a:t>Direction (anti-Trump) </a:t>
          </a:r>
        </a:p>
      </dsp:txBody>
      <dsp:txXfrm>
        <a:off x="1312541" y="828340"/>
        <a:ext cx="2148945" cy="911674"/>
      </dsp:txXfrm>
    </dsp:sp>
    <dsp:sp modelId="{F625811C-D968-40B1-BA1F-D74EAF8B72A7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D7F2C2-5266-4A3E-AE3A-A114A0524BE2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E1F6D8-C5D7-480D-BBC9-271377B27CCA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Trump suffers disproportionately: </a:t>
          </a:r>
          <a:r>
            <a:rPr lang="en-US" sz="1100" kern="1200"/>
            <a:t>2.7× the F1 drop of Biden.</a:t>
          </a:r>
        </a:p>
      </dsp:txBody>
      <dsp:txXfrm>
        <a:off x="4942957" y="828340"/>
        <a:ext cx="2148945" cy="911674"/>
      </dsp:txXfrm>
    </dsp:sp>
    <dsp:sp modelId="{F6C3F349-25D0-4036-A4AA-C6AF7EF6F403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E21DD1-1541-48A6-BEC7-C060DB0A65B3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FD5FB-9FD8-48F6-B6AE-E0FCE66C0F75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Tweet-pretrained classifiers resist bias better.</a:t>
          </a:r>
          <a:r>
            <a:rPr lang="en-US" sz="1100" kern="1200" dirty="0"/>
            <a:t> 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BERTweet's</a:t>
          </a:r>
          <a:r>
            <a:rPr lang="en-US" sz="1100" kern="1200" dirty="0"/>
            <a:t> lower Bias Score (+0.068) </a:t>
          </a:r>
        </a:p>
      </dsp:txBody>
      <dsp:txXfrm>
        <a:off x="8573374" y="828340"/>
        <a:ext cx="2148945" cy="911674"/>
      </dsp:txXfrm>
    </dsp:sp>
    <dsp:sp modelId="{16C3D0AA-80E1-4F47-B1EA-FDB55F1A85AF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4A843E-45DF-4543-AD44-CF32A26DD492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B46179-1118-47CB-BD65-0289429F9D91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RQ3: BIAS SHIFT FIX?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Mixing real + synthetic effectively eliminates the bias.</a:t>
          </a:r>
          <a:endParaRPr lang="en-US" sz="1100" kern="1200" dirty="0"/>
        </a:p>
      </dsp:txBody>
      <dsp:txXfrm>
        <a:off x="1312541" y="2452790"/>
        <a:ext cx="2148945" cy="911674"/>
      </dsp:txXfrm>
    </dsp:sp>
    <dsp:sp modelId="{68C2B490-81D5-4FF7-8C63-A38CD89A5875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73E48E-FEC2-41F0-9638-68A1788419EC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E68C33-EE90-4823-BCDC-2E132033D3CA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Robustness check:</a:t>
          </a:r>
          <a:r>
            <a:rPr lang="en-US" sz="1100" kern="1200"/>
            <a:t> bias is </a:t>
          </a:r>
          <a:r>
            <a:rPr lang="en-US" sz="1100" b="1" kern="1200"/>
            <a:t>content-driven</a:t>
          </a:r>
          <a:r>
            <a:rPr lang="en-US" sz="1100" kern="1200"/>
            <a:t>, not from test-set class imbalance.</a:t>
          </a:r>
        </a:p>
      </dsp:txBody>
      <dsp:txXfrm>
        <a:off x="4942957" y="2452790"/>
        <a:ext cx="2148945" cy="911674"/>
      </dsp:txXfrm>
    </dsp:sp>
    <dsp:sp modelId="{8E1C160A-6712-4DDB-853E-805D367BCF83}">
      <dsp:nvSpPr>
        <dsp:cNvPr id="0" name=""/>
        <dsp:cNvSpPr/>
      </dsp:nvSpPr>
      <dsp:spPr>
        <a:xfrm>
          <a:off x="7466341" y="245279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2BD024-1824-4C3A-A7FA-B4C44E114BAC}">
      <dsp:nvSpPr>
        <dsp:cNvPr id="0" name=""/>
        <dsp:cNvSpPr/>
      </dsp:nvSpPr>
      <dsp:spPr>
        <a:xfrm>
          <a:off x="7657792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CC0569-1376-4F2F-A41A-286C55248C2E}">
      <dsp:nvSpPr>
        <dsp:cNvPr id="0" name=""/>
        <dsp:cNvSpPr/>
      </dsp:nvSpPr>
      <dsp:spPr>
        <a:xfrm>
          <a:off x="8573374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Next steps: </a:t>
          </a:r>
          <a:br>
            <a:rPr lang="en-US" sz="1100" b="1" kern="1200" dirty="0"/>
          </a:br>
          <a:r>
            <a:rPr lang="en-US" sz="1100" kern="1200" dirty="0"/>
            <a:t>Replicate on </a:t>
          </a:r>
          <a:r>
            <a:rPr lang="en-US" sz="1100" b="1" kern="1200" dirty="0"/>
            <a:t>Llama-3-8B-base with </a:t>
          </a:r>
          <a:r>
            <a:rPr lang="en-US" sz="1100" b="1" kern="1200" dirty="0" err="1"/>
            <a:t>LoRA</a:t>
          </a:r>
          <a:r>
            <a:rPr lang="en-US" sz="1100" b="1" kern="1200" dirty="0"/>
            <a:t> </a:t>
          </a:r>
          <a:r>
            <a:rPr lang="en-US" sz="1100" kern="1200" dirty="0"/>
            <a:t>model </a:t>
          </a:r>
          <a:r>
            <a:rPr lang="en-US" sz="1100" b="1" kern="1200" dirty="0"/>
            <a:t> + </a:t>
          </a:r>
          <a:r>
            <a:rPr lang="en-US" sz="1100" kern="1200" dirty="0"/>
            <a:t>Ablation training across all synthetic datasets + Paper Write Up</a:t>
          </a:r>
        </a:p>
      </dsp:txBody>
      <dsp:txXfrm>
        <a:off x="8573374" y="2452790"/>
        <a:ext cx="2148945" cy="9116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1BEA9-B061-B85E-4E8A-6749AB1F7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D879B-9F65-91D7-BEA6-4EBCA9DDB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7035C-839A-7FEE-8E90-0E265061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D1E63-F7C3-A606-1321-F0459C0ED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B42BA-3061-4A0C-45E3-753F7D258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73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55E87-EBE3-3F00-C1EC-52C8047EC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635FD-94BB-B012-9805-0B7F99525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4C8D5-8B6A-4AA8-8942-776C2BE5A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2B1B1-C4DD-7F97-96C0-F6077F8C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E472E-070A-AB95-3D4B-9FE150CF4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62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BA5B0-0850-B0A4-F375-86C5188DE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FBCCC-AE31-EE97-41FF-A99139280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52068-6B66-F701-8724-A392C0862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E6D70-518E-8E3D-BC3D-3941DE91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DB41B-E35B-9DE3-27DE-78CAEFD0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95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F8658-D120-5EBC-EB4E-9484101C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61709-C6FE-F11E-378C-D0CFC1348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BACF3-DC41-9302-ECFF-217F93A64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05EF4-D62C-E543-C335-479807988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12AFE-46BF-D419-E2EE-4623D312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23373-16FF-4915-50B6-8F8D20E34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556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F1C44-19B7-7B58-B10A-E5D8B6442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29C96-F8DA-F266-18C3-CC106BF2B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B4BF0-F715-F90E-5C07-355E15454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02BA09-137C-53D3-C865-CDAA9A939E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57C8AF-408F-56E5-C4DB-3DC0EF3486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569AA3-33FB-CB77-968D-188CD664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757509-CCFB-BE1F-B5B1-C9157368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BBB91F-4E96-B177-7294-415F7651A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30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7628A-5FAE-52DE-5387-B1D925467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E30E20-A707-111A-3538-3821F7801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7E0F1-4346-68F7-FC39-CB1968D52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DE1FB5-E464-4C76-21F1-9F1C1C12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73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8354FD-4C87-B359-C91D-0A2351D4A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E0006E-6A47-C876-A0D7-F719B3A49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36F3A-DA09-35C1-5556-8B1A5573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02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8C0BC-D311-EB27-A7F0-0F993F436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15A68-8650-CB29-A39E-FD4FD55BD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2F254-B3C4-7ADA-9844-B5BE65380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0C011-3282-C776-6BA2-DFF7D9DDE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8A21D-CE1B-90A9-6C66-6DB2F5FA8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ED964-B99B-6165-B819-5F32FB785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1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5C777-0D49-892C-2310-2EADDB07C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7FF90C-12D0-ED97-4A67-D7B022DDDA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CD86A-FAD2-4A14-7636-8EB4F3C1F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FA5ED-F867-1C8B-8287-6E16395B7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3A180-709A-CEAB-FBA0-802402EA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9D1B4-2EA9-75B1-05CF-5A9384143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83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5082E-F1C1-D5E4-E4ED-B6855DFCC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B3E6D7-A94F-C8D6-C791-0280C29C2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59A0A-A131-FCF5-BBEC-E85E8E3B1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3119F-CE23-22EB-CC27-0F490D41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E7D5-E91E-5B0C-5993-0798F5C8F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961460-7FF3-03D9-8D4D-97B30F90F1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9FB5C-7D93-D9E1-64AD-67AFA5903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8F716-E546-7AD0-4F3F-DBE1DDFC0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1516C-39C6-D374-9546-5D817C13C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C7154-C2A4-34B6-624E-8672912D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27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6A38DB-CC97-EEF2-A64E-8ABE98A70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E917A-42D7-DE23-81D4-30F929615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1839E-FDED-20AC-5B90-B5064FEBF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916B8-60F1-4488-AE52-E0F8B8A3CB4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D9D39-398A-C604-3369-6BBF2792C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9DE4D-F65D-37B8-DE14-01C45AA2A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026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6487A-544F-624E-520E-E922F4781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Political Bias Transfer in LLM-Generated Training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43DE1E-7567-EB1C-A50C-27CC98D10568}"/>
              </a:ext>
            </a:extLst>
          </p:cNvPr>
          <p:cNvSpPr txBox="1"/>
          <p:nvPr/>
        </p:nvSpPr>
        <p:spPr>
          <a:xfrm>
            <a:off x="1350682" y="4870824"/>
            <a:ext cx="10005951" cy="14582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Milan Varghese (mv644@drexel.edu) · DSCI 690 · Spring 2026</a:t>
            </a:r>
          </a:p>
        </p:txBody>
      </p:sp>
    </p:spTree>
    <p:extLst>
      <p:ext uri="{BB962C8B-B14F-4D97-AF65-F5344CB8AC3E}">
        <p14:creationId xmlns:p14="http://schemas.microsoft.com/office/powerpoint/2010/main" val="1409524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9BB393-4B16-2846-292C-F1641A5A5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56" y="1444741"/>
            <a:ext cx="9357865" cy="10419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Research Questions</a:t>
            </a:r>
            <a:endParaRPr lang="en-US" sz="4000" u="sng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65930-FB04-9D8C-CC28-AD60A811E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7197" y="2660617"/>
            <a:ext cx="4483324" cy="26999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/>
              <a:t>RQ1: </a:t>
            </a:r>
            <a:r>
              <a:rPr lang="en-US" sz="2000" dirty="0"/>
              <a:t>Does training on LLM-synthetic tweets </a:t>
            </a:r>
            <a:r>
              <a:rPr lang="en-US" sz="2000" b="1" dirty="0"/>
              <a:t>shift classifier predictions </a:t>
            </a:r>
            <a:r>
              <a:rPr lang="en-US" sz="2000" dirty="0"/>
              <a:t>on real tweets?</a:t>
            </a:r>
          </a:p>
          <a:p>
            <a:r>
              <a:rPr lang="en-US" sz="2000" b="1" dirty="0"/>
              <a:t>RQ2: </a:t>
            </a:r>
            <a:r>
              <a:rPr lang="en-US" sz="2000" dirty="0"/>
              <a:t>Does the shift hold across </a:t>
            </a:r>
            <a:r>
              <a:rPr lang="en-US" sz="2000" b="1" dirty="0"/>
              <a:t>classifier architectures</a:t>
            </a:r>
            <a:r>
              <a:rPr lang="en-US" sz="2000" dirty="0"/>
              <a:t>?</a:t>
            </a:r>
          </a:p>
          <a:p>
            <a:r>
              <a:rPr lang="en-US" sz="2000" b="1" dirty="0"/>
              <a:t>RQ3: </a:t>
            </a:r>
            <a:r>
              <a:rPr lang="en-US" sz="2000" dirty="0"/>
              <a:t>How to </a:t>
            </a:r>
            <a:r>
              <a:rPr lang="en-US" sz="2000" b="1" dirty="0"/>
              <a:t>fix this Bias </a:t>
            </a:r>
            <a:r>
              <a:rPr lang="en-US" sz="2000" dirty="0"/>
              <a:t>Shift?</a:t>
            </a:r>
          </a:p>
          <a:p>
            <a:pPr marL="0"/>
            <a:endParaRPr lang="en-US" sz="2000" dirty="0"/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13412-1D13-E8CB-1E2A-6C1D390F18DD}"/>
              </a:ext>
            </a:extLst>
          </p:cNvPr>
          <p:cNvSpPr txBox="1"/>
          <p:nvPr/>
        </p:nvSpPr>
        <p:spPr>
          <a:xfrm>
            <a:off x="1452656" y="2487997"/>
            <a:ext cx="4554501" cy="26999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Why this matters?</a:t>
            </a: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LLMs are </a:t>
            </a:r>
            <a:r>
              <a:rPr lang="en-US" b="1" dirty="0"/>
              <a:t>increasingly used for synthetic training </a:t>
            </a:r>
            <a:r>
              <a:rPr lang="en-US" dirty="0"/>
              <a:t>data when labels are scarce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Wagner et al. (ICLR 2025) demonstrated synthetic data improves stance detection on X-Stance (German policy). They </a:t>
            </a:r>
            <a:r>
              <a:rPr lang="en-US" b="1" dirty="0"/>
              <a:t>flagged bias propagation as a concern but did not measure it.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This work </a:t>
            </a:r>
            <a:r>
              <a:rPr lang="en-US" b="1" dirty="0"/>
              <a:t>tests propagation</a:t>
            </a:r>
            <a:r>
              <a:rPr lang="en-US" dirty="0"/>
              <a:t>: generator → synthetic data → classifier predictions</a:t>
            </a:r>
          </a:p>
        </p:txBody>
      </p:sp>
    </p:spTree>
    <p:extLst>
      <p:ext uri="{BB962C8B-B14F-4D97-AF65-F5344CB8AC3E}">
        <p14:creationId xmlns:p14="http://schemas.microsoft.com/office/powerpoint/2010/main" val="3455854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F10525-E174-1E54-AC25-26F4EDAE2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6" t="8415" r="5125" b="8088"/>
          <a:stretch>
            <a:fillRect/>
          </a:stretch>
        </p:blipFill>
        <p:spPr>
          <a:xfrm>
            <a:off x="755289" y="0"/>
            <a:ext cx="10537884" cy="680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88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616F1-4FF6-5AD8-3FC1-6F215C70F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4322"/>
          </a:xfrm>
        </p:spPr>
        <p:txBody>
          <a:bodyPr/>
          <a:lstStyle/>
          <a:p>
            <a:pPr algn="ctr"/>
            <a:r>
              <a:rPr lang="it-IT" b="1" u="sng" dirty="0"/>
              <a:t>Real data: P-Stance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598AC-7F17-3B29-124A-801EA4A93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43351" cy="2026708"/>
          </a:xfrm>
        </p:spPr>
        <p:txBody>
          <a:bodyPr>
            <a:normAutofit fontScale="77500" lnSpcReduction="20000"/>
          </a:bodyPr>
          <a:lstStyle/>
          <a:p>
            <a:r>
              <a:rPr lang="en-US" sz="2000" b="1" dirty="0"/>
              <a:t>21,574</a:t>
            </a:r>
            <a:r>
              <a:rPr lang="en-US" sz="2000" dirty="0"/>
              <a:t> real tweets</a:t>
            </a:r>
          </a:p>
          <a:p>
            <a:r>
              <a:rPr lang="en-US" sz="2000" b="1" dirty="0"/>
              <a:t>3 targets: </a:t>
            </a:r>
            <a:r>
              <a:rPr lang="en-US" sz="2000" dirty="0"/>
              <a:t>Trump / Biden / Sanders</a:t>
            </a:r>
          </a:p>
          <a:p>
            <a:r>
              <a:rPr lang="en-US" sz="2000" b="1" dirty="0"/>
              <a:t>Binary stance: </a:t>
            </a:r>
            <a:r>
              <a:rPr lang="en-US" sz="2000" dirty="0"/>
              <a:t>Favor / Against</a:t>
            </a:r>
          </a:p>
          <a:p>
            <a:r>
              <a:rPr lang="en-US" sz="2000" dirty="0"/>
              <a:t>80/10/10: train/</a:t>
            </a:r>
            <a:r>
              <a:rPr lang="en-US" sz="2000" dirty="0" err="1"/>
              <a:t>val</a:t>
            </a:r>
            <a:r>
              <a:rPr lang="en-US" sz="2000" dirty="0"/>
              <a:t>/test stratified per target</a:t>
            </a:r>
          </a:p>
          <a:p>
            <a:r>
              <a:rPr lang="en-US" sz="2100" b="1" dirty="0" err="1"/>
              <a:t>Krippendorff</a:t>
            </a:r>
            <a:r>
              <a:rPr lang="en-US" sz="2100" b="1" dirty="0"/>
              <a:t> alpha of 0.81 </a:t>
            </a:r>
            <a:r>
              <a:rPr lang="en-US" sz="2100" dirty="0"/>
              <a:t>(3 random Annotator Agreement)</a:t>
            </a:r>
          </a:p>
          <a:p>
            <a:r>
              <a:rPr lang="en-US" sz="2100" b="1" dirty="0"/>
              <a:t>Mild Imbalance </a:t>
            </a:r>
            <a:r>
              <a:rPr lang="en-US" sz="2100" dirty="0"/>
              <a:t>in dataset</a:t>
            </a:r>
          </a:p>
          <a:p>
            <a:endParaRPr lang="en-US" sz="2100" dirty="0"/>
          </a:p>
          <a:p>
            <a:endParaRPr lang="el-GR" sz="2100" dirty="0"/>
          </a:p>
          <a:p>
            <a:endParaRPr lang="en-US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77720A-1D84-7F3B-7E63-AAC1709DA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686292"/>
              </p:ext>
            </p:extLst>
          </p:nvPr>
        </p:nvGraphicFramePr>
        <p:xfrm>
          <a:off x="900633" y="4490403"/>
          <a:ext cx="5703365" cy="168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0673">
                  <a:extLst>
                    <a:ext uri="{9D8B030D-6E8A-4147-A177-3AD203B41FA5}">
                      <a16:colId xmlns:a16="http://schemas.microsoft.com/office/drawing/2014/main" val="1663901672"/>
                    </a:ext>
                  </a:extLst>
                </a:gridCol>
                <a:gridCol w="1140673">
                  <a:extLst>
                    <a:ext uri="{9D8B030D-6E8A-4147-A177-3AD203B41FA5}">
                      <a16:colId xmlns:a16="http://schemas.microsoft.com/office/drawing/2014/main" val="2963057253"/>
                    </a:ext>
                  </a:extLst>
                </a:gridCol>
                <a:gridCol w="1140673">
                  <a:extLst>
                    <a:ext uri="{9D8B030D-6E8A-4147-A177-3AD203B41FA5}">
                      <a16:colId xmlns:a16="http://schemas.microsoft.com/office/drawing/2014/main" val="3410218677"/>
                    </a:ext>
                  </a:extLst>
                </a:gridCol>
                <a:gridCol w="1140673">
                  <a:extLst>
                    <a:ext uri="{9D8B030D-6E8A-4147-A177-3AD203B41FA5}">
                      <a16:colId xmlns:a16="http://schemas.microsoft.com/office/drawing/2014/main" val="213221075"/>
                    </a:ext>
                  </a:extLst>
                </a:gridCol>
                <a:gridCol w="1140673">
                  <a:extLst>
                    <a:ext uri="{9D8B030D-6E8A-4147-A177-3AD203B41FA5}">
                      <a16:colId xmlns:a16="http://schemas.microsoft.com/office/drawing/2014/main" val="22575599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Target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Train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Val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Test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%FAVOR (train)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096172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Trump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6,362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814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777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46%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618003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Biden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5,806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745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745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44%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54071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Bernie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5,056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634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635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56%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07969605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CF07D00D-A9D4-44A2-2E06-D818402B23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8" t="1965" b="57157"/>
          <a:stretch>
            <a:fillRect/>
          </a:stretch>
        </p:blipFill>
        <p:spPr>
          <a:xfrm>
            <a:off x="6849533" y="1593019"/>
            <a:ext cx="4939042" cy="1835981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97773A-9222-2575-0CFF-1BCFE0203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682778"/>
              </p:ext>
            </p:extLst>
          </p:nvPr>
        </p:nvGraphicFramePr>
        <p:xfrm>
          <a:off x="7267115" y="4592003"/>
          <a:ext cx="434087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354">
                  <a:extLst>
                    <a:ext uri="{9D8B030D-6E8A-4147-A177-3AD203B41FA5}">
                      <a16:colId xmlns:a16="http://schemas.microsoft.com/office/drawing/2014/main" val="173453595"/>
                    </a:ext>
                  </a:extLst>
                </a:gridCol>
                <a:gridCol w="854487">
                  <a:extLst>
                    <a:ext uri="{9D8B030D-6E8A-4147-A177-3AD203B41FA5}">
                      <a16:colId xmlns:a16="http://schemas.microsoft.com/office/drawing/2014/main" val="3267136316"/>
                    </a:ext>
                  </a:extLst>
                </a:gridCol>
                <a:gridCol w="893460">
                  <a:extLst>
                    <a:ext uri="{9D8B030D-6E8A-4147-A177-3AD203B41FA5}">
                      <a16:colId xmlns:a16="http://schemas.microsoft.com/office/drawing/2014/main" val="134053140"/>
                    </a:ext>
                  </a:extLst>
                </a:gridCol>
                <a:gridCol w="851578">
                  <a:extLst>
                    <a:ext uri="{9D8B030D-6E8A-4147-A177-3AD203B41FA5}">
                      <a16:colId xmlns:a16="http://schemas.microsoft.com/office/drawing/2014/main" val="124407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Target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Train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Val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Test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396759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Bernie Sanders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56.5%</a:t>
                      </a:r>
                      <a:endParaRPr lang="en-US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55.2%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54.0%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60325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Donald Trump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46.2%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45.9%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45.3%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826175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Joe Biden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44.0%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44.0%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45.2%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446706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175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C0F27-256E-0F36-BC74-440DA0896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Synthetic dataset </a:t>
            </a:r>
            <a:br>
              <a:rPr lang="en-US" dirty="0"/>
            </a:br>
            <a:r>
              <a:rPr lang="en-US" dirty="0"/>
              <a:t>7 generators × 7,200 tweets each = </a:t>
            </a:r>
            <a:r>
              <a:rPr lang="en-US" b="1" dirty="0"/>
              <a:t>50,400 total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B3F6D-3038-F479-F7B6-7F45632CB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78400"/>
            <a:ext cx="10515600" cy="14360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Generation method:</a:t>
            </a:r>
            <a:endParaRPr lang="en-US" sz="1800" dirty="0"/>
          </a:p>
          <a:p>
            <a:r>
              <a:rPr lang="en-US" sz="1800" b="1" dirty="0"/>
              <a:t>Neutral, label-only prompts:</a:t>
            </a:r>
            <a:r>
              <a:rPr lang="en-US" sz="1800" dirty="0"/>
              <a:t> no political framing</a:t>
            </a:r>
          </a:p>
          <a:p>
            <a:r>
              <a:rPr lang="en-US" sz="1800" b="1" dirty="0"/>
              <a:t>4×6×4 prompt grid</a:t>
            </a:r>
            <a:r>
              <a:rPr lang="en-US" sz="1800" dirty="0"/>
              <a:t> = 96 unique prompts per (target, stance)</a:t>
            </a:r>
          </a:p>
          <a:p>
            <a:r>
              <a:rPr lang="en-US" sz="1800" dirty="0"/>
              <a:t>Diversity from surface scaffolding (templates × topics × formats), not content steering</a:t>
            </a:r>
          </a:p>
          <a:p>
            <a:endParaRPr lang="en-US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28B2CF-C1EB-0333-F7BA-1634E275D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912982"/>
              </p:ext>
            </p:extLst>
          </p:nvPr>
        </p:nvGraphicFramePr>
        <p:xfrm>
          <a:off x="2032000" y="1690688"/>
          <a:ext cx="8127999" cy="3158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421">
                  <a:extLst>
                    <a:ext uri="{9D8B030D-6E8A-4147-A177-3AD203B41FA5}">
                      <a16:colId xmlns:a16="http://schemas.microsoft.com/office/drawing/2014/main" val="1473464767"/>
                    </a:ext>
                  </a:extLst>
                </a:gridCol>
                <a:gridCol w="2603597">
                  <a:extLst>
                    <a:ext uri="{9D8B030D-6E8A-4147-A177-3AD203B41FA5}">
                      <a16:colId xmlns:a16="http://schemas.microsoft.com/office/drawing/2014/main" val="3235560313"/>
                    </a:ext>
                  </a:extLst>
                </a:gridCol>
                <a:gridCol w="3835981">
                  <a:extLst>
                    <a:ext uri="{9D8B030D-6E8A-4147-A177-3AD203B41FA5}">
                      <a16:colId xmlns:a16="http://schemas.microsoft.com/office/drawing/2014/main" val="2186141750"/>
                    </a:ext>
                  </a:extLst>
                </a:gridCol>
              </a:tblGrid>
              <a:tr h="2984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Provider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Model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Alignment regime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748273263"/>
                  </a:ext>
                </a:extLst>
              </a:tr>
              <a:tr h="4620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OpenAI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gpt-4o-mini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Heavy RLHF (practitioner default)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4031700823"/>
                  </a:ext>
                </a:extLst>
              </a:tr>
              <a:tr h="4620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OpenAI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gpt-5.4-mini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Heavy RLHF (newer generation)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084740279"/>
                  </a:ext>
                </a:extLst>
              </a:tr>
              <a:tr h="4364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Mistral AI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Mistral-7B-v0.3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Lighter alignment (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Wagner et al. 2025 réplications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608316562"/>
                  </a:ext>
                </a:extLst>
              </a:tr>
              <a:tr h="4620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Google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Gemma-2-9B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Heavy RLHF (different family)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081996929"/>
                  </a:ext>
                </a:extLst>
              </a:tr>
              <a:tr h="2984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Alibaba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Qwen-2.5-7B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Different RLHF philosophy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093998939"/>
                  </a:ext>
                </a:extLst>
              </a:tr>
              <a:tr h="2984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Meta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Llama-3.1-8B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Open RLHF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79909413"/>
                  </a:ext>
                </a:extLst>
              </a:tr>
              <a:tr h="2984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Meta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Llama-3.2-3B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Open RLHF (size scaling)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919325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9865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74C1DD-E937-0C75-8C93-7FB1C84BF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637063"/>
              </p:ext>
            </p:extLst>
          </p:nvPr>
        </p:nvGraphicFramePr>
        <p:xfrm>
          <a:off x="987142" y="977220"/>
          <a:ext cx="10217716" cy="5466363"/>
        </p:xfrm>
        <a:graphic>
          <a:graphicData uri="http://schemas.openxmlformats.org/drawingml/2006/table">
            <a:tbl>
              <a:tblPr/>
              <a:tblGrid>
                <a:gridCol w="4007597">
                  <a:extLst>
                    <a:ext uri="{9D8B030D-6E8A-4147-A177-3AD203B41FA5}">
                      <a16:colId xmlns:a16="http://schemas.microsoft.com/office/drawing/2014/main" val="2416353895"/>
                    </a:ext>
                  </a:extLst>
                </a:gridCol>
                <a:gridCol w="1192343">
                  <a:extLst>
                    <a:ext uri="{9D8B030D-6E8A-4147-A177-3AD203B41FA5}">
                      <a16:colId xmlns:a16="http://schemas.microsoft.com/office/drawing/2014/main" val="742476160"/>
                    </a:ext>
                  </a:extLst>
                </a:gridCol>
                <a:gridCol w="794895">
                  <a:extLst>
                    <a:ext uri="{9D8B030D-6E8A-4147-A177-3AD203B41FA5}">
                      <a16:colId xmlns:a16="http://schemas.microsoft.com/office/drawing/2014/main" val="768523780"/>
                    </a:ext>
                  </a:extLst>
                </a:gridCol>
                <a:gridCol w="1838196">
                  <a:extLst>
                    <a:ext uri="{9D8B030D-6E8A-4147-A177-3AD203B41FA5}">
                      <a16:colId xmlns:a16="http://schemas.microsoft.com/office/drawing/2014/main" val="2747953660"/>
                    </a:ext>
                  </a:extLst>
                </a:gridCol>
                <a:gridCol w="794895">
                  <a:extLst>
                    <a:ext uri="{9D8B030D-6E8A-4147-A177-3AD203B41FA5}">
                      <a16:colId xmlns:a16="http://schemas.microsoft.com/office/drawing/2014/main" val="1923622412"/>
                    </a:ext>
                  </a:extLst>
                </a:gridCol>
                <a:gridCol w="794895">
                  <a:extLst>
                    <a:ext uri="{9D8B030D-6E8A-4147-A177-3AD203B41FA5}">
                      <a16:colId xmlns:a16="http://schemas.microsoft.com/office/drawing/2014/main" val="933265955"/>
                    </a:ext>
                  </a:extLst>
                </a:gridCol>
                <a:gridCol w="794895">
                  <a:extLst>
                    <a:ext uri="{9D8B030D-6E8A-4147-A177-3AD203B41FA5}">
                      <a16:colId xmlns:a16="http://schemas.microsoft.com/office/drawing/2014/main" val="3448387071"/>
                    </a:ext>
                  </a:extLst>
                </a:gridCol>
              </a:tblGrid>
              <a:tr h="2289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Tweet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Target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Stance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prompt_idx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seed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refused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536210"/>
                  </a:ext>
                </a:extLst>
              </a:tr>
              <a:tr h="915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I've been impressed by Trump's bold leadership and strong stance on the economy. His policies created jobs and boosted our pride as a nation. We need that kind of energy back in office! #MAGA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Donald Trump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FAVOR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gpt-4o-mini-2024-07-18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FALSE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672896"/>
                  </a:ext>
                </a:extLst>
              </a:tr>
              <a:tr h="915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How can anyone support a leader who prioritizes tax cuts for the rich while neglecting healthcare and education for our children? Is this really the future we want? #NotMyPresident #ChooseWisely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Donald Trump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AGAINST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gpt-4o-mini-2024-07-18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100191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FALSE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052017"/>
                  </a:ext>
                </a:extLst>
              </a:tr>
              <a:tr h="915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Isn’t it time we rally behind a leader like Biden who actually cares about unity and progress? Can we really afford to go back to divisive politics? #Biden2024 #PrimaryRace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Joe Biden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FAVOR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gpt-4o-mini-2024-07-18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200779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FALSE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505125"/>
                  </a:ext>
                </a:extLst>
              </a:tr>
              <a:tr h="8414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How can we trust Joe Biden to lead when he keeps dodging questions about the economy?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Isnâ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€™t it time for a president who actually addresses the issues? #BidenFailure #Accountability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Joe Biden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AGAINST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gpt-4o-mini-2024-07-18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300200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FALSE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873131"/>
                  </a:ext>
                </a:extLst>
              </a:tr>
              <a:tr h="824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Isn't it time we prioritize universal healthcare for all? Bernie Sanders has the vision to make it a reality. Why should anyone in this country go without basic medical care? #FeelTheBern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Bernie Sanders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FAVOR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gpt-4o-mini-2024-07-18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400576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FALSE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672946"/>
                  </a:ext>
                </a:extLst>
              </a:tr>
              <a:tr h="824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Bernieâ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€™s campaign trail is just a rerun of old promises; he needs to come up with fresh ideas instead of recycling the same slogans. #NotImpressed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Bernie Sanders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AGAINST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gpt-4o-mini-2024-07-18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899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500941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FALSE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05078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1E4F4F6-DFA3-6EC4-5B0E-82719516F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04548" cy="36081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Synthetic Dataset Sample</a:t>
            </a:r>
          </a:p>
        </p:txBody>
      </p:sp>
    </p:spTree>
    <p:extLst>
      <p:ext uri="{BB962C8B-B14F-4D97-AF65-F5344CB8AC3E}">
        <p14:creationId xmlns:p14="http://schemas.microsoft.com/office/powerpoint/2010/main" val="812391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9B9C1-5026-5742-04F5-9E90D4A8B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645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Synthetic Dataset Audit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4A206-2B38-4273-B780-E50B78F7D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942" y="5484463"/>
            <a:ext cx="10515600" cy="1008411"/>
          </a:xfrm>
        </p:spPr>
        <p:txBody>
          <a:bodyPr>
            <a:normAutofit/>
          </a:bodyPr>
          <a:lstStyle/>
          <a:p>
            <a:r>
              <a:rPr lang="en-US" sz="2000" b="1" dirty="0"/>
              <a:t>Open-weight models are more diverse than closed APIs.</a:t>
            </a:r>
            <a:endParaRPr lang="en-US" sz="2000" dirty="0"/>
          </a:p>
          <a:p>
            <a:r>
              <a:rPr lang="en-US" sz="2000" b="1" dirty="0"/>
              <a:t>GPT-5.4-mini is more out-of-distribution than GPT-4o-mini</a:t>
            </a:r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7A052E-8A0A-5927-77F9-E2EBBB0B6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464365"/>
              </p:ext>
            </p:extLst>
          </p:nvPr>
        </p:nvGraphicFramePr>
        <p:xfrm>
          <a:off x="1836167" y="1001401"/>
          <a:ext cx="88403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966">
                  <a:extLst>
                    <a:ext uri="{9D8B030D-6E8A-4147-A177-3AD203B41FA5}">
                      <a16:colId xmlns:a16="http://schemas.microsoft.com/office/drawing/2014/main" val="266213562"/>
                    </a:ext>
                  </a:extLst>
                </a:gridCol>
                <a:gridCol w="905934">
                  <a:extLst>
                    <a:ext uri="{9D8B030D-6E8A-4147-A177-3AD203B41FA5}">
                      <a16:colId xmlns:a16="http://schemas.microsoft.com/office/drawing/2014/main" val="3626016139"/>
                    </a:ext>
                  </a:extLst>
                </a:gridCol>
                <a:gridCol w="1151466">
                  <a:extLst>
                    <a:ext uri="{9D8B030D-6E8A-4147-A177-3AD203B41FA5}">
                      <a16:colId xmlns:a16="http://schemas.microsoft.com/office/drawing/2014/main" val="345121784"/>
                    </a:ext>
                  </a:extLst>
                </a:gridCol>
                <a:gridCol w="1689234">
                  <a:extLst>
                    <a:ext uri="{9D8B030D-6E8A-4147-A177-3AD203B41FA5}">
                      <a16:colId xmlns:a16="http://schemas.microsoft.com/office/drawing/2014/main" val="333155978"/>
                    </a:ext>
                  </a:extLst>
                </a:gridCol>
                <a:gridCol w="1262900">
                  <a:extLst>
                    <a:ext uri="{9D8B030D-6E8A-4147-A177-3AD203B41FA5}">
                      <a16:colId xmlns:a16="http://schemas.microsoft.com/office/drawing/2014/main" val="2425997099"/>
                    </a:ext>
                  </a:extLst>
                </a:gridCol>
                <a:gridCol w="1262900">
                  <a:extLst>
                    <a:ext uri="{9D8B030D-6E8A-4147-A177-3AD203B41FA5}">
                      <a16:colId xmlns:a16="http://schemas.microsoft.com/office/drawing/2014/main" val="2575224522"/>
                    </a:ext>
                  </a:extLst>
                </a:gridCol>
                <a:gridCol w="1262900">
                  <a:extLst>
                    <a:ext uri="{9D8B030D-6E8A-4147-A177-3AD203B41FA5}">
                      <a16:colId xmlns:a16="http://schemas.microsoft.com/office/drawing/2014/main" val="2421933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Generator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effectLst/>
                        </a:rPr>
                        <a:t>char_len</a:t>
                      </a:r>
                      <a:endParaRPr lang="en-US" sz="1600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effectLst/>
                        </a:rPr>
                        <a:t>n_hashtags</a:t>
                      </a:r>
                      <a:endParaRPr lang="en-US" sz="1600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distinct_2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>(Higher = Vocab Diversity)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Self-BLEU 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b="0" i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lower = more diverse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effectLst/>
                        </a:rPr>
                        <a:t>mean_cos</a:t>
                      </a:r>
                      <a:r>
                        <a:rPr lang="en-US" sz="1600" dirty="0">
                          <a:effectLst/>
                        </a:rPr>
                        <a:t> (</a:t>
                      </a:r>
                      <a:r>
                        <a:rPr lang="en-US" sz="1400" b="0" i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higher = closer to real distribution</a:t>
                      </a:r>
                      <a:r>
                        <a:rPr lang="en-US" sz="1600" dirty="0">
                          <a:effectLst/>
                        </a:rPr>
                        <a:t>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FAVOR↑ </a:t>
                      </a:r>
                      <a:r>
                        <a:rPr lang="en-US" sz="1600" dirty="0" err="1">
                          <a:effectLst/>
                        </a:rPr>
                        <a:t>asym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b="0" i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writes more </a:t>
                      </a:r>
                      <a:r>
                        <a:rPr lang="en-US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templated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118221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</a:rPr>
                        <a:t>Real (ref)</a:t>
                      </a:r>
                      <a:endParaRPr lang="en-US" sz="160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effectLst/>
                        </a:rPr>
                        <a:t>170</a:t>
                      </a:r>
                      <a:endParaRPr lang="en-US" sz="160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1.9</a:t>
                      </a:r>
                      <a:endParaRPr lang="en-US" sz="1600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—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—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—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—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650558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gpt-4o-mini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172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1.67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0.21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0.39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0.67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+31%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431196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gpt-5.4-mini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125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0.17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0.26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0.28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0.62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+31%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9396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mistral-7b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144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1.53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0.38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0.19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0.66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+34%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682900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gemma-2-9b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91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0.72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0.33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0.26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0.65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+50%</a:t>
                      </a:r>
                      <a:endParaRPr lang="en-US" sz="1600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471676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qwen-2.5-7b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105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0.90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0.37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0.26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0.64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+3%</a:t>
                      </a:r>
                      <a:endParaRPr lang="en-US" sz="1600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950343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llama-3.1-8b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112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0.23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effectLst/>
                        </a:rPr>
                        <a:t>0.41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effectLst/>
                        </a:rPr>
                        <a:t>0.13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0.62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+20%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967783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llama-3.2-3b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120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0.38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0.44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0.11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0.62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+22%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011293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7879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843EB-0F89-FED3-2C20-8E553380D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Training &amp; 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654C6-772F-A51F-1118-CE99E6185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20908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Conditions:</a:t>
            </a:r>
          </a:p>
          <a:p>
            <a:r>
              <a:rPr lang="en-US" dirty="0"/>
              <a:t>Synthetic</a:t>
            </a:r>
          </a:p>
          <a:p>
            <a:r>
              <a:rPr lang="en-US" dirty="0"/>
              <a:t>Real Dataset</a:t>
            </a:r>
          </a:p>
          <a:p>
            <a:r>
              <a:rPr lang="en-US" dirty="0"/>
              <a:t>Mixed Dataset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Evaluation:</a:t>
            </a:r>
          </a:p>
          <a:p>
            <a:r>
              <a:rPr lang="en-US" dirty="0"/>
              <a:t>Macro F1 Score Disagreements between synthetic and Real Classifier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DED5060-18AA-11FE-7C9E-5A97D3C59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423207"/>
              </p:ext>
            </p:extLst>
          </p:nvPr>
        </p:nvGraphicFramePr>
        <p:xfrm>
          <a:off x="6213306" y="4590059"/>
          <a:ext cx="563201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501">
                  <a:extLst>
                    <a:ext uri="{9D8B030D-6E8A-4147-A177-3AD203B41FA5}">
                      <a16:colId xmlns:a16="http://schemas.microsoft.com/office/drawing/2014/main" val="695202375"/>
                    </a:ext>
                  </a:extLst>
                </a:gridCol>
                <a:gridCol w="835146">
                  <a:extLst>
                    <a:ext uri="{9D8B030D-6E8A-4147-A177-3AD203B41FA5}">
                      <a16:colId xmlns:a16="http://schemas.microsoft.com/office/drawing/2014/main" val="3373069201"/>
                    </a:ext>
                  </a:extLst>
                </a:gridCol>
                <a:gridCol w="1584495">
                  <a:extLst>
                    <a:ext uri="{9D8B030D-6E8A-4147-A177-3AD203B41FA5}">
                      <a16:colId xmlns:a16="http://schemas.microsoft.com/office/drawing/2014/main" val="1778788223"/>
                    </a:ext>
                  </a:extLst>
                </a:gridCol>
                <a:gridCol w="1451871">
                  <a:extLst>
                    <a:ext uri="{9D8B030D-6E8A-4147-A177-3AD203B41FA5}">
                      <a16:colId xmlns:a16="http://schemas.microsoft.com/office/drawing/2014/main" val="1449864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Condition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Weight decay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Max epochs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512169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Real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2e-5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0.01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5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433753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Synth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1e-5</a:t>
                      </a:r>
                      <a:endParaRPr lang="en-US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0.10</a:t>
                      </a:r>
                      <a:endParaRPr lang="en-US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3</a:t>
                      </a:r>
                      <a:endParaRPr lang="en-US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423647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Mixed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2e-5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0.05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4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17110987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19F6D7-1B4F-7F9E-AC74-E0F7DB046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163442"/>
              </p:ext>
            </p:extLst>
          </p:nvPr>
        </p:nvGraphicFramePr>
        <p:xfrm>
          <a:off x="5159108" y="1975942"/>
          <a:ext cx="6686211" cy="246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5480786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17750962"/>
                    </a:ext>
                  </a:extLst>
                </a:gridCol>
                <a:gridCol w="981875">
                  <a:extLst>
                    <a:ext uri="{9D8B030D-6E8A-4147-A177-3AD203B41FA5}">
                      <a16:colId xmlns:a16="http://schemas.microsoft.com/office/drawing/2014/main" val="1494428030"/>
                    </a:ext>
                  </a:extLst>
                </a:gridCol>
                <a:gridCol w="1640336">
                  <a:extLst>
                    <a:ext uri="{9D8B030D-6E8A-4147-A177-3AD203B41FA5}">
                      <a16:colId xmlns:a16="http://schemas.microsoft.com/office/drawing/2014/main" val="3085506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Classifier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Hub ID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Params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FT method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102318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RoBERTa</a:t>
                      </a:r>
                      <a:r>
                        <a:rPr lang="en-US" dirty="0">
                          <a:effectLst/>
                        </a:rPr>
                        <a:t>-base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FacebookAI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roberta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-base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125M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Full fine-tuning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28996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DeBERTa-v3-base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microsoft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/deberta-v3-base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184M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Full fine-tuning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848310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BERTweet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vinai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bertweet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-base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134M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Full fine-tuning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625786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Llama-3-8B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meta-llama/Meta-Llama-3-8B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8B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LoRA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(r=16)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477391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9826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E2045-AD80-ABF4-814F-89F35694A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2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Results: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0F3DD-0093-B78D-B834-178A3D850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4313766"/>
            <a:ext cx="2895600" cy="18897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b="1" u="sng" dirty="0"/>
              <a:t>Quick Summary</a:t>
            </a:r>
          </a:p>
          <a:p>
            <a:r>
              <a:rPr lang="en-US" sz="1400" dirty="0"/>
              <a:t>Bias Scores </a:t>
            </a:r>
            <a:r>
              <a:rPr lang="en-US" sz="1400" b="1" dirty="0"/>
              <a:t>+ve</a:t>
            </a:r>
          </a:p>
          <a:p>
            <a:r>
              <a:rPr lang="en-US" sz="1400" dirty="0"/>
              <a:t>Trump's drop is 2.7× Biden's; Bernie's is 1.7× Biden’s</a:t>
            </a:r>
          </a:p>
          <a:p>
            <a:r>
              <a:rPr lang="en-US" sz="1400" dirty="0"/>
              <a:t>Mixed Dataset </a:t>
            </a:r>
            <a:r>
              <a:rPr lang="en-US" sz="1400" b="1" dirty="0"/>
              <a:t>eliminates Bias</a:t>
            </a:r>
          </a:p>
          <a:p>
            <a:r>
              <a:rPr lang="en-US" sz="1400" dirty="0"/>
              <a:t>Tweet-pretrained </a:t>
            </a:r>
            <a:r>
              <a:rPr lang="en-US" sz="1400" dirty="0" err="1"/>
              <a:t>BERTweet</a:t>
            </a:r>
            <a:r>
              <a:rPr lang="en-US" sz="1400" dirty="0"/>
              <a:t> shows </a:t>
            </a:r>
            <a:r>
              <a:rPr lang="en-US" sz="1400" b="1" dirty="0"/>
              <a:t>lowest bias 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AD2909-8FAA-1F3E-9FE0-1BA61CBB7E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4016856"/>
              </p:ext>
            </p:extLst>
          </p:nvPr>
        </p:nvGraphicFramePr>
        <p:xfrm>
          <a:off x="596899" y="1293353"/>
          <a:ext cx="10998201" cy="2199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7634">
                  <a:extLst>
                    <a:ext uri="{9D8B030D-6E8A-4147-A177-3AD203B41FA5}">
                      <a16:colId xmlns:a16="http://schemas.microsoft.com/office/drawing/2014/main" val="111517894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797920748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1077051584"/>
                    </a:ext>
                  </a:extLst>
                </a:gridCol>
                <a:gridCol w="1049867">
                  <a:extLst>
                    <a:ext uri="{9D8B030D-6E8A-4147-A177-3AD203B41FA5}">
                      <a16:colId xmlns:a16="http://schemas.microsoft.com/office/drawing/2014/main" val="2311581647"/>
                    </a:ext>
                  </a:extLst>
                </a:gridCol>
                <a:gridCol w="1363133">
                  <a:extLst>
                    <a:ext uri="{9D8B030D-6E8A-4147-A177-3AD203B41FA5}">
                      <a16:colId xmlns:a16="http://schemas.microsoft.com/office/drawing/2014/main" val="2030810043"/>
                    </a:ext>
                  </a:extLst>
                </a:gridCol>
                <a:gridCol w="2040467">
                  <a:extLst>
                    <a:ext uri="{9D8B030D-6E8A-4147-A177-3AD203B41FA5}">
                      <a16:colId xmlns:a16="http://schemas.microsoft.com/office/drawing/2014/main" val="3097906165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1585722110"/>
                    </a:ext>
                  </a:extLst>
                </a:gridCol>
              </a:tblGrid>
              <a:tr h="520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Classifier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Real F1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Synth F1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Mixed F1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Synth−Real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Bias Score 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(full / balanced)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Bias (mixed)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309550206"/>
                  </a:ext>
                </a:extLst>
              </a:tr>
              <a:tr h="319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effectLst/>
                        </a:rPr>
                        <a:t>RoBERTa</a:t>
                      </a:r>
                      <a:r>
                        <a:rPr lang="en-US" b="1" dirty="0">
                          <a:effectLst/>
                        </a:rPr>
                        <a:t>-base</a:t>
                      </a:r>
                      <a:r>
                        <a:rPr lang="en-US" dirty="0">
                          <a:effectLst/>
                        </a:rPr>
                        <a:t> (125M, full FT)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0.822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0.704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0.811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−11.8 pp</a:t>
                      </a:r>
                      <a:endParaRPr lang="en-US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+0.280</a:t>
                      </a:r>
                      <a:r>
                        <a:rPr lang="en-US" dirty="0">
                          <a:effectLst/>
                        </a:rPr>
                        <a:t> / +0.297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+0.050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523286380"/>
                  </a:ext>
                </a:extLst>
              </a:tr>
              <a:tr h="520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DeBERTa-v3-base</a:t>
                      </a:r>
                      <a:r>
                        <a:rPr lang="en-US" dirty="0">
                          <a:effectLst/>
                        </a:rPr>
                        <a:t> (184M, full FT)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effectLst/>
                        </a:rPr>
                        <a:t>0.847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0.717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0.836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−13.0 pp</a:t>
                      </a:r>
                      <a:endParaRPr lang="en-US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+0.166</a:t>
                      </a:r>
                      <a:r>
                        <a:rPr lang="en-US" dirty="0">
                          <a:effectLst/>
                        </a:rPr>
                        <a:t> / +0.195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−0.003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64252477"/>
                  </a:ext>
                </a:extLst>
              </a:tr>
              <a:tr h="731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effectLst/>
                        </a:rPr>
                        <a:t>BERTweet</a:t>
                      </a:r>
                      <a:r>
                        <a:rPr lang="en-US" dirty="0">
                          <a:effectLst/>
                        </a:rPr>
                        <a:t>  (134M, full FT, tweet-pretrained)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0.817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0.704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0.804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−11.3 pp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+0.068</a:t>
                      </a:r>
                      <a:r>
                        <a:rPr lang="en-US" dirty="0">
                          <a:effectLst/>
                        </a:rPr>
                        <a:t> / +0.098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−0.049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6671557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C35820-171F-FCA6-8E88-65A708BBE6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3475589"/>
              </p:ext>
            </p:extLst>
          </p:nvPr>
        </p:nvGraphicFramePr>
        <p:xfrm>
          <a:off x="3429000" y="4212166"/>
          <a:ext cx="856932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2802">
                  <a:extLst>
                    <a:ext uri="{9D8B030D-6E8A-4147-A177-3AD203B41FA5}">
                      <a16:colId xmlns:a16="http://schemas.microsoft.com/office/drawing/2014/main" val="1462925842"/>
                    </a:ext>
                  </a:extLst>
                </a:gridCol>
                <a:gridCol w="1591782">
                  <a:extLst>
                    <a:ext uri="{9D8B030D-6E8A-4147-A177-3AD203B41FA5}">
                      <a16:colId xmlns:a16="http://schemas.microsoft.com/office/drawing/2014/main" val="305103282"/>
                    </a:ext>
                  </a:extLst>
                </a:gridCol>
                <a:gridCol w="1480079">
                  <a:extLst>
                    <a:ext uri="{9D8B030D-6E8A-4147-A177-3AD203B41FA5}">
                      <a16:colId xmlns:a16="http://schemas.microsoft.com/office/drawing/2014/main" val="1458508266"/>
                    </a:ext>
                  </a:extLst>
                </a:gridCol>
                <a:gridCol w="1428221">
                  <a:extLst>
                    <a:ext uri="{9D8B030D-6E8A-4147-A177-3AD203B41FA5}">
                      <a16:colId xmlns:a16="http://schemas.microsoft.com/office/drawing/2014/main" val="3719860267"/>
                    </a:ext>
                  </a:extLst>
                </a:gridCol>
                <a:gridCol w="1684333">
                  <a:extLst>
                    <a:ext uri="{9D8B030D-6E8A-4147-A177-3AD203B41FA5}">
                      <a16:colId xmlns:a16="http://schemas.microsoft.com/office/drawing/2014/main" val="1068149818"/>
                    </a:ext>
                  </a:extLst>
                </a:gridCol>
                <a:gridCol w="1172109">
                  <a:extLst>
                    <a:ext uri="{9D8B030D-6E8A-4147-A177-3AD203B41FA5}">
                      <a16:colId xmlns:a16="http://schemas.microsoft.com/office/drawing/2014/main" val="4213216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Target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Real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Synth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Mixed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Synth </a:t>
                      </a:r>
                      <a:r>
                        <a:rPr lang="el-GR" dirty="0">
                          <a:effectLst/>
                        </a:rPr>
                        <a:t>Δ</a:t>
                      </a:r>
                      <a:r>
                        <a:rPr lang="en-US" dirty="0">
                          <a:effectLst/>
                        </a:rPr>
                        <a:t>F1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Avg. </a:t>
                      </a:r>
                      <a:r>
                        <a:rPr lang="el-GR" dirty="0">
                          <a:effectLst/>
                        </a:rPr>
                        <a:t>Δ</a:t>
                      </a:r>
                      <a:r>
                        <a:rPr lang="en-US" dirty="0">
                          <a:effectLst/>
                        </a:rPr>
                        <a:t>F1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6331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Donald Trump</a:t>
                      </a:r>
                      <a:endParaRPr lang="en-US" sz="1200" b="1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0.845 / 0.875 / 0.844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0.664 / 0.685 / 0.674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0.829 / 0.862 / 0.823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−18.1 / −19.0 / −17.0 pp</a:t>
                      </a:r>
                      <a:endParaRPr lang="en-US" sz="1200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−18.0</a:t>
                      </a:r>
                      <a:endParaRPr lang="en-US" sz="1200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52695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Joe Biden</a:t>
                      </a:r>
                      <a:endParaRPr lang="en-US" sz="1200" b="1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0.835 / 0.854 / 0.820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0.765 / 0.786 / 0.760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0.822 / 0.850 / 0.814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−7.0 / −6.8 / −6.0 pp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−6.6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594924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Bernie Sanders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0.774 / 0.800 / 0.777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0.672 / 0.672 / 0.671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0.769 / 0.782 / 0.760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−10.2 / −12.8 / −10.6 pp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−</a:t>
                      </a:r>
                      <a:r>
                        <a:rPr lang="en-US" sz="1200" b="0" dirty="0">
                          <a:effectLst/>
                        </a:rPr>
                        <a:t>11.2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0241388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06C3D71-8DC6-2BF1-A04C-90FCB21D909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75200" y="3842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Per-target macro-F1</a:t>
            </a:r>
            <a:r>
              <a:rPr lang="en-US" dirty="0"/>
              <a:t>: </a:t>
            </a:r>
            <a:r>
              <a:rPr lang="en-US" dirty="0" err="1"/>
              <a:t>RoBERTa</a:t>
            </a:r>
            <a:r>
              <a:rPr lang="en-US" dirty="0"/>
              <a:t> | DeBERTa-v3 | </a:t>
            </a:r>
            <a:r>
              <a:rPr lang="en-US" dirty="0" err="1"/>
              <a:t>BERTweet</a:t>
            </a:r>
            <a:r>
              <a:rPr lang="en-US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9394F5-9250-7964-02EC-C7A5F6F9129D}"/>
              </a:ext>
            </a:extLst>
          </p:cNvPr>
          <p:cNvSpPr txBox="1">
            <a:spLocks/>
          </p:cNvSpPr>
          <p:nvPr/>
        </p:nvSpPr>
        <p:spPr>
          <a:xfrm>
            <a:off x="3837516" y="971649"/>
            <a:ext cx="43243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overall F1 + Bias Score </a:t>
            </a:r>
            <a:r>
              <a:rPr lang="en-US" dirty="0"/>
              <a:t>Trump Vs Biden: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2B5056-94F3-DFBA-71C6-4389D7B4FB3A}"/>
              </a:ext>
            </a:extLst>
          </p:cNvPr>
          <p:cNvSpPr txBox="1"/>
          <p:nvPr/>
        </p:nvSpPr>
        <p:spPr>
          <a:xfrm>
            <a:off x="5609070" y="6308209"/>
            <a:ext cx="3758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pp = percentage points (absoute Δ)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3723CD-0BCB-69D2-DDE9-F269796E9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358" y="429422"/>
            <a:ext cx="1428949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301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07745-5ED7-3104-39A3-ED4DD87CF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Generator Political Profile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DFA70-64DF-2F9F-9C80-CA19D2BE1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Heavy-RLHF commercial models lean anti-Trump; only llama-3.2-3b leans pro-Trump</a:t>
            </a:r>
          </a:p>
          <a:p>
            <a:r>
              <a:rPr lang="en-US" dirty="0"/>
              <a:t>llama-3.2-3b is the most architecturally consistent generator (0.738)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4A3F0A-3011-827F-36A7-E34551865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470456"/>
              </p:ext>
            </p:extLst>
          </p:nvPr>
        </p:nvGraphicFramePr>
        <p:xfrm>
          <a:off x="7992275" y="3818144"/>
          <a:ext cx="3536708" cy="22557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4763">
                  <a:extLst>
                    <a:ext uri="{9D8B030D-6E8A-4147-A177-3AD203B41FA5}">
                      <a16:colId xmlns:a16="http://schemas.microsoft.com/office/drawing/2014/main" val="1965289485"/>
                    </a:ext>
                  </a:extLst>
                </a:gridCol>
                <a:gridCol w="1343554">
                  <a:extLst>
                    <a:ext uri="{9D8B030D-6E8A-4147-A177-3AD203B41FA5}">
                      <a16:colId xmlns:a16="http://schemas.microsoft.com/office/drawing/2014/main" val="2262421375"/>
                    </a:ext>
                  </a:extLst>
                </a:gridCol>
                <a:gridCol w="948391">
                  <a:extLst>
                    <a:ext uri="{9D8B030D-6E8A-4147-A177-3AD203B41FA5}">
                      <a16:colId xmlns:a16="http://schemas.microsoft.com/office/drawing/2014/main" val="206353213"/>
                    </a:ext>
                  </a:extLst>
                </a:gridCol>
              </a:tblGrid>
              <a:tr h="4755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Generator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Mean </a:t>
                      </a:r>
                      <a:r>
                        <a:rPr lang="en-US" sz="1100" u="none" strike="noStrike" dirty="0" err="1">
                          <a:effectLst/>
                        </a:rPr>
                        <a:t>BvT</a:t>
                      </a:r>
                      <a:r>
                        <a:rPr lang="en-US" sz="1100" u="none" strike="noStrike" dirty="0">
                          <a:effectLst/>
                        </a:rPr>
                        <a:t> Bias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Lean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20270790"/>
                  </a:ext>
                </a:extLst>
              </a:tr>
              <a:tr h="2563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gpt-4o-mini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+0.178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left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51243610"/>
                  </a:ext>
                </a:extLst>
              </a:tr>
              <a:tr h="2421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gemma-2-9b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+0.143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left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66918495"/>
                  </a:ext>
                </a:extLst>
              </a:tr>
              <a:tr h="2563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gpt-5.4-mini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+0.129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left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46182819"/>
                  </a:ext>
                </a:extLst>
              </a:tr>
              <a:tr h="2563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mistral-7b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+0.126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left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64865179"/>
                  </a:ext>
                </a:extLst>
              </a:tr>
              <a:tr h="2563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qwen-2.5-7b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+0.029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neutral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95189721"/>
                  </a:ext>
                </a:extLst>
              </a:tr>
              <a:tr h="2563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llama-3.1-8b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−0.072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neutral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66602130"/>
                  </a:ext>
                </a:extLst>
              </a:tr>
              <a:tr h="2563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llama-3.2-3b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−0.147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right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11839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8369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776E7-0FB6-2F04-3C86-0A25198A2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Z-Score Word Analysis: Where Each Generator's Vocabulary Diverges from Real Tweets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3C396-8EA3-FF72-DC3F-5ACBF19A2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Two-proportion Z-test on document frequency (tweet-level binary) for FAVOR vs AGAINST per target</a:t>
            </a:r>
          </a:p>
          <a:p>
            <a:r>
              <a:rPr lang="en-US" dirty="0"/>
              <a:t>Same test on real P-Stance training tweets </a:t>
            </a:r>
          </a:p>
          <a:p>
            <a:r>
              <a:rPr lang="en-US" dirty="0"/>
              <a:t>Spearman ρ = rank-agreement between synthetic and real word associations. Lower ρ = more divergence.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0B42DE-3C88-C4A1-E60D-63767807A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074064"/>
              </p:ext>
            </p:extLst>
          </p:nvPr>
        </p:nvGraphicFramePr>
        <p:xfrm>
          <a:off x="2617559" y="4335463"/>
          <a:ext cx="6526442" cy="184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7617">
                  <a:extLst>
                    <a:ext uri="{9D8B030D-6E8A-4147-A177-3AD203B41FA5}">
                      <a16:colId xmlns:a16="http://schemas.microsoft.com/office/drawing/2014/main" val="2931666314"/>
                    </a:ext>
                  </a:extLst>
                </a:gridCol>
                <a:gridCol w="1975383">
                  <a:extLst>
                    <a:ext uri="{9D8B030D-6E8A-4147-A177-3AD203B41FA5}">
                      <a16:colId xmlns:a16="http://schemas.microsoft.com/office/drawing/2014/main" val="1150597119"/>
                    </a:ext>
                  </a:extLst>
                </a:gridCol>
                <a:gridCol w="2038205">
                  <a:extLst>
                    <a:ext uri="{9D8B030D-6E8A-4147-A177-3AD203B41FA5}">
                      <a16:colId xmlns:a16="http://schemas.microsoft.com/office/drawing/2014/main" val="3347918327"/>
                    </a:ext>
                  </a:extLst>
                </a:gridCol>
                <a:gridCol w="1675237">
                  <a:extLst>
                    <a:ext uri="{9D8B030D-6E8A-4147-A177-3AD203B41FA5}">
                      <a16:colId xmlns:a16="http://schemas.microsoft.com/office/drawing/2014/main" val="4144422210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Target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gpt-4o-mini (anti-Trump)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qwen-2.5-7b (neutral on </a:t>
                      </a:r>
                      <a:r>
                        <a:rPr lang="en-US" sz="1100" u="none" strike="noStrike" dirty="0" err="1">
                          <a:effectLst/>
                        </a:rPr>
                        <a:t>BvT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llama-3.2-3b (pro-Trump)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4416522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Trump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0.258 ← lowest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0.298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0.332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581519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Biden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0.355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0.313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0.317 ← lowest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6460916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Sanders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0.362 ← lowest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0.413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79095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4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2F06B-F170-A0B7-630C-E582A24F1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Distinct Bias Mechanisms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000C48-0248-66F1-54ED-CBBCA6BA36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8370"/>
              </p:ext>
            </p:extLst>
          </p:nvPr>
        </p:nvGraphicFramePr>
        <p:xfrm>
          <a:off x="838200" y="1825625"/>
          <a:ext cx="10515597" cy="4209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26143227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1319017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677683"/>
                    </a:ext>
                  </a:extLst>
                </a:gridCol>
              </a:tblGrid>
              <a:tr h="5895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gpt-4o-mini (anti-Trump)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qwen-2.5-7b (neutral on </a:t>
                      </a:r>
                      <a:r>
                        <a:rPr lang="en-US" dirty="0" err="1"/>
                        <a:t>BvT</a:t>
                      </a:r>
                      <a:r>
                        <a:rPr lang="en-US" dirty="0"/>
                        <a:t>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llama-3.2-3b (pro-Trump)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630448"/>
                  </a:ext>
                </a:extLst>
              </a:tr>
              <a:tr h="362035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Scrubbed real MAGA vocab: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buildthewall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deepstate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bestpresidentever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bluewave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demexit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Injected sanitized terms: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bold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chaos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commitment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brighter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progress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Top sign-flip: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wakeupamerica</a:t>
                      </a:r>
                      <a:r>
                        <a:rPr lang="en-US" dirty="0"/>
                        <a:t> — real FAVOR (+3.51) → synth AGAINST (−8.49)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Pro-Sanders vocab inverted (synth AGAINST, real FAVOR):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trust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campaign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policies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win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save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america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issues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i’m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Invented hashtags absent from real: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bernieforpresident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berniestrong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bidengaffe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bidenblunders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Top sign-flip: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trust</a:t>
                      </a:r>
                      <a:r>
                        <a:rPr lang="en-US" dirty="0"/>
                        <a:t> (Sanders) — synth AGAINST (−6.81) → real FAVOR (+1.76)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Preserves MAGA concepts: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wall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swamp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fake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news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outsider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unapologetic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Pro-Biden vocab inverted (synth AGAINST, real FAVOR):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campaign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trust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presidency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waiting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Top sign-flip: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biden</a:t>
                      </a:r>
                      <a:r>
                        <a:rPr lang="en-US" dirty="0"/>
                        <a:t> — synth FAVOR (+13.97) → real AGAINST (−7.09)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46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782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113A3-B909-3B35-2943-153219E8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&amp; Next Steps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2527D6C-0CCF-B749-9C05-D5935B6E1E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4879566"/>
              </p:ext>
            </p:extLst>
          </p:nvPr>
        </p:nvGraphicFramePr>
        <p:xfrm>
          <a:off x="838200" y="1825625"/>
          <a:ext cx="10515600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8658">
                  <a:extLst>
                    <a:ext uri="{9D8B030D-6E8A-4147-A177-3AD203B41FA5}">
                      <a16:colId xmlns:a16="http://schemas.microsoft.com/office/drawing/2014/main" val="1362986209"/>
                    </a:ext>
                  </a:extLst>
                </a:gridCol>
                <a:gridCol w="7786942">
                  <a:extLst>
                    <a:ext uri="{9D8B030D-6E8A-4147-A177-3AD203B41FA5}">
                      <a16:colId xmlns:a16="http://schemas.microsoft.com/office/drawing/2014/main" val="272862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Takeaway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049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Synth training shifts classifier predictions in </a:t>
                      </a:r>
                      <a:r>
                        <a:rPr lang="en-US" b="1" dirty="0"/>
                        <a:t>21/21 combos</a:t>
                      </a:r>
                      <a:r>
                        <a:rPr lang="en-US" dirty="0"/>
                        <a:t> (paired t-test, p &lt; 0.05 for all)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931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Bias direction tracks generator alignment: </a:t>
                      </a:r>
                      <a:r>
                        <a:rPr lang="en-US" b="1" dirty="0"/>
                        <a:t>gpt-4o-mini = +0.178 (most anti-Trump)</a:t>
                      </a:r>
                      <a:r>
                        <a:rPr lang="en-US" dirty="0"/>
                        <a:t>, </a:t>
                      </a:r>
                      <a:r>
                        <a:rPr lang="en-US" b="1" dirty="0"/>
                        <a:t>llama-3.2-3b = −0.147 (most pro-Trump)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331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Mixing 50% real data reduces |bias| by ~41% on average and recovers ~88% of lost 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600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Word-level Z-score analysis exposes </a:t>
                      </a:r>
                      <a:r>
                        <a:rPr lang="en-US" b="1" dirty="0"/>
                        <a:t>3 distinct bias mechanisms</a:t>
                      </a:r>
                      <a:r>
                        <a:rPr lang="en-US" dirty="0"/>
                        <a:t> — sanitization, hidden axis inversion, polarity inversion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770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Hidden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Single-axis </a:t>
                      </a:r>
                      <a:r>
                        <a:rPr lang="en-US" dirty="0" err="1"/>
                        <a:t>BvT</a:t>
                      </a:r>
                      <a:r>
                        <a:rPr lang="en-US" dirty="0"/>
                        <a:t> metric misses </a:t>
                      </a:r>
                      <a:r>
                        <a:rPr lang="en-US" dirty="0" err="1"/>
                        <a:t>qwen's</a:t>
                      </a:r>
                      <a:r>
                        <a:rPr lang="en-US" dirty="0"/>
                        <a:t> anti-Bernie signal — word-level analysis catches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660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Architecture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RoBERTa</a:t>
                      </a:r>
                      <a:r>
                        <a:rPr lang="en-US" dirty="0"/>
                        <a:t> amplifies bias ~2.5× more than </a:t>
                      </a:r>
                      <a:r>
                        <a:rPr lang="en-US" dirty="0" err="1"/>
                        <a:t>BERTweet</a:t>
                      </a:r>
                      <a:r>
                        <a:rPr lang="en-US" dirty="0"/>
                        <a:t> — tweet-pretraining acts as partial shock absorber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548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294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F794B9-B236-0688-5B47-053C1EE89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 u="sng">
                <a:solidFill>
                  <a:srgbClr val="FFFFFF"/>
                </a:solidFill>
              </a:rPr>
              <a:t>Findings &amp; Next Steps</a:t>
            </a:r>
            <a:endParaRPr lang="en-US" sz="4000" u="sng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B2322E-BCAD-6E9D-D080-B87B5A2414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158447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1779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84A14-218F-88AD-AEC1-EC78D2665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6402"/>
          </a:xfrm>
        </p:spPr>
        <p:txBody>
          <a:bodyPr/>
          <a:lstStyle/>
          <a:p>
            <a:pPr algn="ctr"/>
            <a:r>
              <a:rPr lang="en-US" b="1" u="sng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5A9DE-98D4-ED32-175E-D7AA02B29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011"/>
            <a:ext cx="10515600" cy="4773952"/>
          </a:xfrm>
        </p:spPr>
        <p:txBody>
          <a:bodyPr>
            <a:normAutofit/>
          </a:bodyPr>
          <a:lstStyle/>
          <a:p>
            <a:r>
              <a:rPr lang="en-US" sz="2000" dirty="0"/>
              <a:t>Wagner, Stefan &amp; Behrendt, Maike &amp; </a:t>
            </a:r>
            <a:r>
              <a:rPr lang="en-US" sz="2000" dirty="0" err="1"/>
              <a:t>Ziegele</a:t>
            </a:r>
            <a:r>
              <a:rPr lang="en-US" sz="2000" dirty="0"/>
              <a:t>, Marc &amp; Harmeling, Stefan. (2024). The Power of LLM-Generated Synthetic Data for Stance Detection in Online Political Discussions. 10.48550/arXiv.2406.12480. </a:t>
            </a:r>
          </a:p>
          <a:p>
            <a:r>
              <a:rPr lang="en-US" sz="2000" dirty="0" err="1"/>
              <a:t>Santurkar</a:t>
            </a:r>
            <a:r>
              <a:rPr lang="en-US" sz="2000" dirty="0"/>
              <a:t>, Shibani &amp; Durmus, Esin &amp; </a:t>
            </a:r>
            <a:r>
              <a:rPr lang="en-US" sz="2000" dirty="0" err="1"/>
              <a:t>Ladhak</a:t>
            </a:r>
            <a:r>
              <a:rPr lang="en-US" sz="2000" dirty="0"/>
              <a:t>, Faisal &amp; Lee, </a:t>
            </a:r>
            <a:r>
              <a:rPr lang="en-US" sz="2000" dirty="0" err="1"/>
              <a:t>Cinoo</a:t>
            </a:r>
            <a:r>
              <a:rPr lang="en-US" sz="2000" dirty="0"/>
              <a:t> &amp; Liang, Percy &amp; Hashimoto, </a:t>
            </a:r>
            <a:r>
              <a:rPr lang="en-US" sz="2000" dirty="0" err="1"/>
              <a:t>Tatsunori</a:t>
            </a:r>
            <a:r>
              <a:rPr lang="en-US" sz="2000" dirty="0"/>
              <a:t>. (2023). Whose Opinions Do Language Models Reflect?. 10.48550/arXiv.2303.17548. </a:t>
            </a:r>
          </a:p>
          <a:p>
            <a:r>
              <a:rPr lang="en-US" sz="2000" dirty="0"/>
              <a:t>Feng, </a:t>
            </a:r>
            <a:r>
              <a:rPr lang="en-US" sz="2000" dirty="0" err="1"/>
              <a:t>Shangbin</a:t>
            </a:r>
            <a:r>
              <a:rPr lang="en-US" sz="2000" dirty="0"/>
              <a:t> &amp; Park, Chan &amp; Liu, Yuhan &amp; Tsvetkov, Yulia. (2023). From Pretraining Data to Language Models to Downstream Tasks: Tracking the Trails of Political Biases Leading to Unfair NLP Models. 11737-11762. 10.18653/v1/2023.acl-long.656.</a:t>
            </a:r>
          </a:p>
        </p:txBody>
      </p:sp>
    </p:spTree>
    <p:extLst>
      <p:ext uri="{BB962C8B-B14F-4D97-AF65-F5344CB8AC3E}">
        <p14:creationId xmlns:p14="http://schemas.microsoft.com/office/powerpoint/2010/main" val="379470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677F6-155F-A2A5-47BD-3D95EFC02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3"/>
            <a:ext cx="2663066" cy="63335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0D193483-D6DC-E133-78E9-70C5BD3E79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10229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1691</Words>
  <Application>Microsoft Office PowerPoint</Application>
  <PresentationFormat>Widescreen</PresentationFormat>
  <Paragraphs>392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Aptos Narrow</vt:lpstr>
      <vt:lpstr>Arial</vt:lpstr>
      <vt:lpstr>Office Theme</vt:lpstr>
      <vt:lpstr>Political Bias Transfer in LLM-Generated Training Data</vt:lpstr>
      <vt:lpstr>Research Questions</vt:lpstr>
      <vt:lpstr>PowerPoint Presentation</vt:lpstr>
      <vt:lpstr>Real data: P-Stance</vt:lpstr>
      <vt:lpstr>Synthetic dataset  7 generators × 7,200 tweets each = 50,400 total</vt:lpstr>
      <vt:lpstr>Synthetic Dataset Sample</vt:lpstr>
      <vt:lpstr>Synthetic Dataset Audit</vt:lpstr>
      <vt:lpstr>Training &amp; Eval</vt:lpstr>
      <vt:lpstr>Results:</vt:lpstr>
      <vt:lpstr>Generator Political Profile</vt:lpstr>
      <vt:lpstr>Z-Score Word Analysis: Where Each Generator's Vocabulary Diverges from Real Tweets</vt:lpstr>
      <vt:lpstr>Three Distinct Bias Mechanisms</vt:lpstr>
      <vt:lpstr>Findings &amp; Next Steps </vt:lpstr>
      <vt:lpstr>Findings &amp; Next Steps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Milan Varghese</dc:creator>
  <cp:lastModifiedBy>Milan Varghese</cp:lastModifiedBy>
  <cp:revision>27</cp:revision>
  <dcterms:created xsi:type="dcterms:W3CDTF">2026-05-03T21:46:11Z</dcterms:created>
  <dcterms:modified xsi:type="dcterms:W3CDTF">2026-06-05T20:36:58Z</dcterms:modified>
</cp:coreProperties>
</file>